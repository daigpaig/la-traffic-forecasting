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The task is to predict freeway speeds in Los Angeles one hour ahead, across two hundred and seven sensors, using only the previous hour of speeds.
Over sixteen iterations of experiments, test error dropped from fifteen miles per hour at the baseline to about eleven point nine. The more important result, which I'll walk through, is that around ninety-four percent of that improvement came from a change that has nothing to do with the graph structure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My initial research question was the standard one: can a spatio-temporal graph network outperform a temporal-only LSTM on this dataset? Implicit in that framing is the assumption that any improvement comes from the spatial component.
A few weeks in, the question I was actually able to answer was different. It became: where does the improvement come from — the temporal encoder, the graph topology, or the graph operator — and how much of each effect is statistically real, versus seed noise.
The setup that made this possible: a fixed dataset and evaluation protocol, one mutable file, and a deliverable that decomposes contributions rather than reporting a single best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A short grounding in the data. Everything on the left is held constant across every run, which is what makes the results comparable from one iteration to the next. The dataset is METR-LA freeway speeds — thirty-four thousand timesteps across two hundred and seven sensors, at five-minute resolution. The forecasting window is one hour of input, predicting one hour ahead.
One detail worth noting is normalization. I compute the z-score statistics from the training split only, which prevents temporal leakage. Evaluation is denormalized back to miles per hour, so all the metrics on later slides are directly interpretable.
The baseline is a one-layer LSTM that treats the sensors as features. It scores fifteen RMSE, around nine MAE, and an R-squared of zero point five-seven. It's a deliberately simple temporal floor — every later number in the project is measured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This is the structure of the loop. I want to spend a little time on it because the attribution claims later depend on it.
The design is intentionally minimal — one file, one metric, and fast iterations. Each change has to defend itself on its own commit, which prevents two improvements from being quietly bundled together. The cycle is: read previous results, write down a hypothesis, edit the code, commit, run, parse the log, and evaluate against the logic gate.
The gate has two conditions: a change is kept only if RMSE improves and mean absolute error doesn't rise by more than three tenths of a mile per hour. The MAE guard catches calibration regressions — that's the failure mode that ended iteration five. A separate simplicity gate flags changes that improve accuracy only marginally but increase runtime substantially.
On the right is the tier system. Tier one runs are methodological controls — ablations and multi-seed reruns — and these are never discarded. Tier two and three are optimization runs, subject to the gate. The rule is that no architecture experiment runs while a Tier-one measurement is still open, because the value of any architectural change depends on the spatial contribution being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This is the experiment trace. Each point is one completed iteration plotted at its test RMSE, color-coded by the decision made.
Iteration one used a flawed architecture and scored worse than the baseline, at eighteen point eight. Iteration two corrected the architecture and dropped to twelve point one. That single transition accounts for nearly all of the improvement in the project. Every subsequent iteration moves the metric by less than two tenths of a point.
The grey point at iteration nine is the one to flag. That was an ablation using the same per-node temporal encoder but no graph layer at all. It lands almost exactly at iteration two's score, which sets up the result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This slide presents the main result. Iteration nine — the ablation with no graph layer — scored twelve point zero eight. That means the graph layer, added on top of the temporal encoder, accounts only for the difference between twelve point zero eight and eleven point nine two.
Decomposed against the baseline: about ninety-four percent of the three-point-one improvement comes from the per-node temporal encoder, and roughly five percent from the correlation graph. The five-percent contribution is statistically real — about eight point six sigma across seeds — but it's a small effect, and the original framing of the project did not correctly identify where the improvement was coming from.
I can make that decomposition with confidence because the seed-noise floor is about two-hundredths of a point of RMSE and a quarter point of MAE. The iteration-eight result that initially looked like an MAE improvement was within that noise band on a single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Two changes produced most of the improvement. The first is per-node temporal encoding. In the original architecture, every sensor was passed through one shared LSTM and a single embedding was broadcast across all of them, which meant the graph layer was averaging two hundred near-identical vectors. Giving each sensor its own pass through the LSTM produced the only step-function improvement in the project. The second is correlation-based adjacency — choosing neighbors that behave similarly outperformed using physically adjacent ones, at no additional computational cost.
On the right are five named failure modes, each grounded in a specific iteration: representation collapse, optimization instability, capacity overshoot, topology misspecification, and compute-quality mismatch. I'll also note two procedural issues: single-seed evaluation early on, and a logging bug that re-ran the same configuration multiple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To close, four methodological lessons.
First, the research question changed during the project — an ablation, rather than an optimization step, was what reframed it. Second, the keep-discard gate is necessary but not sufficient; selection on a single seed produces apparent statistical significance, which is why I now require at least three seeds for small claims. Third, monitoring a single metric is risky — RMSE alone nearly missed a calibration failure in iteration five. Fourth, compute-quality tradeoffs need an explicit gate of their own.
The broader takeaway is that a logic-gated experimental loop can still be misled if the gate isn't designed to ask whether a result is real, in addition to whether it's better.
On limitations: the defensible final number is eleven point nine two RMSE. The project uses one dataset, a fixed window, and CPU compute only.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640080" y="1234440"/>
            <a:ext cx="502920" cy="100584"/>
          </a:xfrm>
          <a:prstGeom prst="rect">
            <a:avLst/>
          </a:prstGeom>
          <a:solidFill>
            <a:srgbClr val="E9A23B"/>
          </a:solidFill>
          <a:ln/>
        </p:spPr>
      </p:sp>
      <p:sp>
        <p:nvSpPr>
          <p:cNvPr id="3" name="Text 1"/>
          <p:cNvSpPr/>
          <p:nvPr/>
        </p:nvSpPr>
        <p:spPr>
          <a:xfrm>
            <a:off x="640080" y="868680"/>
            <a:ext cx="10058400" cy="320040"/>
          </a:xfrm>
          <a:prstGeom prst="rect">
            <a:avLst/>
          </a:prstGeom>
          <a:noFill/>
          <a:ln/>
        </p:spPr>
        <p:txBody>
          <a:bodyPr wrap="square" lIns="0" tIns="0" rIns="0" bIns="0" rtlCol="0" anchor="ctr"/>
          <a:lstStyle/>
          <a:p>
            <a:pPr indent="0" marL="0">
              <a:buNone/>
            </a:pPr>
            <a:r>
              <a:rPr lang="en-US" sz="1350" b="1" spc="200" kern="0" dirty="0">
                <a:solidFill>
                  <a:srgbClr val="CADCFC"/>
                </a:solidFill>
                <a:latin typeface="Calibri" pitchFamily="34" charset="0"/>
                <a:ea typeface="Calibri" pitchFamily="34" charset="-122"/>
                <a:cs typeface="Calibri" pitchFamily="34" charset="-120"/>
              </a:rPr>
              <a:t>STAT 390 CAPSTONE  ·  AUTONOMOUS RESEARCH LOOP</a:t>
            </a:r>
            <a:endParaRPr lang="en-US" sz="1350" dirty="0"/>
          </a:p>
        </p:txBody>
      </p:sp>
      <p:sp>
        <p:nvSpPr>
          <p:cNvPr id="4" name="Text 2"/>
          <p:cNvSpPr/>
          <p:nvPr/>
        </p:nvSpPr>
        <p:spPr>
          <a:xfrm>
            <a:off x="640080" y="1554480"/>
            <a:ext cx="10972800" cy="173736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Georgia" pitchFamily="34" charset="0"/>
                <a:ea typeface="Georgia" pitchFamily="34" charset="-122"/>
                <a:cs typeface="Georgia" pitchFamily="34" charset="-120"/>
              </a:rPr>
              <a:t>AutoResearch for Spatio-Temporal</a:t>
            </a:r>
            <a:endParaRPr lang="en-US" sz="4000" dirty="0"/>
          </a:p>
          <a:p>
            <a:pPr indent="0" marL="0">
              <a:lnSpc>
                <a:spcPct val="102000"/>
              </a:lnSpc>
              <a:buNone/>
            </a:pPr>
            <a:r>
              <a:rPr lang="en-US" sz="4000" b="1" dirty="0">
                <a:solidFill>
                  <a:srgbClr val="FFFFFF"/>
                </a:solidFill>
                <a:latin typeface="Georgia" pitchFamily="34" charset="0"/>
                <a:ea typeface="Georgia" pitchFamily="34" charset="-122"/>
                <a:cs typeface="Georgia" pitchFamily="34" charset="-120"/>
              </a:rPr>
              <a:t>Traffic Forecasting on METR-LA</a:t>
            </a:r>
            <a:endParaRPr lang="en-US" sz="4000" dirty="0"/>
          </a:p>
        </p:txBody>
      </p:sp>
      <p:sp>
        <p:nvSpPr>
          <p:cNvPr id="5" name="Text 3"/>
          <p:cNvSpPr/>
          <p:nvPr/>
        </p:nvSpPr>
        <p:spPr>
          <a:xfrm>
            <a:off x="658368" y="3291840"/>
            <a:ext cx="10058400" cy="457200"/>
          </a:xfrm>
          <a:prstGeom prst="rect">
            <a:avLst/>
          </a:prstGeom>
          <a:noFill/>
          <a:ln/>
        </p:spPr>
        <p:txBody>
          <a:bodyPr wrap="square" lIns="0" tIns="0" rIns="0" bIns="0" rtlCol="0" anchor="ctr"/>
          <a:lstStyle/>
          <a:p>
            <a:pPr indent="0" marL="0">
              <a:buNone/>
            </a:pPr>
            <a:r>
              <a:rPr lang="en-US" sz="1900" i="1" dirty="0">
                <a:solidFill>
                  <a:srgbClr val="CADCFC"/>
                </a:solidFill>
                <a:latin typeface="Georgia" pitchFamily="34" charset="0"/>
                <a:ea typeface="Georgia" pitchFamily="34" charset="-122"/>
                <a:cs typeface="Georgia" pitchFamily="34" charset="-120"/>
              </a:rPr>
              <a:t>When the agent loop changed the question, not just the answer</a:t>
            </a:r>
            <a:endParaRPr lang="en-US" sz="1900" dirty="0"/>
          </a:p>
        </p:txBody>
      </p:sp>
      <p:sp>
        <p:nvSpPr>
          <p:cNvPr id="6" name="Shape 4"/>
          <p:cNvSpPr/>
          <p:nvPr/>
        </p:nvSpPr>
        <p:spPr>
          <a:xfrm>
            <a:off x="640080" y="4160520"/>
            <a:ext cx="10881360" cy="1051560"/>
          </a:xfrm>
          <a:prstGeom prst="rect">
            <a:avLst/>
          </a:prstGeom>
          <a:solidFill>
            <a:srgbClr val="16293F"/>
          </a:solidFill>
          <a:ln/>
        </p:spPr>
      </p:sp>
      <p:sp>
        <p:nvSpPr>
          <p:cNvPr id="7" name="Shape 5"/>
          <p:cNvSpPr/>
          <p:nvPr/>
        </p:nvSpPr>
        <p:spPr>
          <a:xfrm>
            <a:off x="640080" y="4160520"/>
            <a:ext cx="91440" cy="1051560"/>
          </a:xfrm>
          <a:prstGeom prst="rect">
            <a:avLst/>
          </a:prstGeom>
          <a:solidFill>
            <a:srgbClr val="E9A23B"/>
          </a:solidFill>
          <a:ln/>
        </p:spPr>
      </p:sp>
      <p:sp>
        <p:nvSpPr>
          <p:cNvPr id="8" name="Text 6"/>
          <p:cNvSpPr/>
          <p:nvPr/>
        </p:nvSpPr>
        <p:spPr>
          <a:xfrm>
            <a:off x="914400" y="4160520"/>
            <a:ext cx="10332720" cy="1051560"/>
          </a:xfrm>
          <a:prstGeom prst="rect">
            <a:avLst/>
          </a:prstGeom>
          <a:noFill/>
          <a:ln/>
        </p:spPr>
        <p:txBody>
          <a:bodyPr wrap="square" rtlCol="0" anchor="ctr"/>
          <a:lstStyle/>
          <a:p>
            <a:pPr indent="0" marL="0">
              <a:lnSpc>
                <a:spcPct val="105000"/>
              </a:lnSpc>
              <a:buNone/>
            </a:pPr>
            <a:r>
              <a:rPr lang="en-US" sz="1600" b="1" dirty="0">
                <a:solidFill>
                  <a:srgbClr val="E9A23B"/>
                </a:solidFill>
                <a:latin typeface="Calibri" pitchFamily="34" charset="0"/>
                <a:ea typeface="Calibri" pitchFamily="34" charset="-122"/>
                <a:cs typeface="Calibri" pitchFamily="34" charset="-120"/>
              </a:rPr>
              <a:t>The claim:  </a:t>
            </a:r>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16 agent iterations cut test RMSE from 15.00 → 11.87 mph — but 94% of the gain came from a per-node temporal encoder, only ~5% from the graph.</a:t>
            </a:r>
            <a:endParaRPr lang="en-US" sz="1600" dirty="0"/>
          </a:p>
        </p:txBody>
      </p:sp>
      <p:sp>
        <p:nvSpPr>
          <p:cNvPr id="9" name="Text 7"/>
          <p:cNvSpPr/>
          <p:nvPr/>
        </p:nvSpPr>
        <p:spPr>
          <a:xfrm>
            <a:off x="640080" y="5989320"/>
            <a:ext cx="109728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Daigo Moriwake   ·   branch  autoresearch/may7-gnn   ·   6-minute talk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TOPIC → AUTORESEARCH FORMULATION</a:t>
            </a:r>
            <a:endParaRPr lang="en-US" sz="125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From “does a GNN win?” to “where does the gain come from?”</a:t>
            </a:r>
            <a:endParaRPr lang="en-US" sz="2700" dirty="0"/>
          </a:p>
        </p:txBody>
      </p:sp>
      <p:sp>
        <p:nvSpPr>
          <p:cNvPr id="4" name="Shape 2"/>
          <p:cNvSpPr/>
          <p:nvPr/>
        </p:nvSpPr>
        <p:spPr>
          <a:xfrm>
            <a:off x="548640" y="1600200"/>
            <a:ext cx="5349240" cy="1874520"/>
          </a:xfrm>
          <a:prstGeom prst="rect">
            <a:avLst/>
          </a:prstGeom>
          <a:solidFill>
            <a:srgbClr val="F4F6F8"/>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5" name="Shape 3"/>
          <p:cNvSpPr/>
          <p:nvPr/>
        </p:nvSpPr>
        <p:spPr>
          <a:xfrm>
            <a:off x="548640" y="1600200"/>
            <a:ext cx="91440" cy="1874520"/>
          </a:xfrm>
          <a:prstGeom prst="rect">
            <a:avLst/>
          </a:prstGeom>
          <a:solidFill>
            <a:srgbClr val="8A94A6"/>
          </a:solidFill>
          <a:ln/>
        </p:spPr>
      </p:sp>
      <p:sp>
        <p:nvSpPr>
          <p:cNvPr id="6" name="Text 4"/>
          <p:cNvSpPr/>
          <p:nvPr/>
        </p:nvSpPr>
        <p:spPr>
          <a:xfrm>
            <a:off x="822960" y="1783080"/>
            <a:ext cx="4892040" cy="274320"/>
          </a:xfrm>
          <a:prstGeom prst="rect">
            <a:avLst/>
          </a:prstGeom>
          <a:noFill/>
          <a:ln/>
        </p:spPr>
        <p:txBody>
          <a:bodyPr wrap="square" lIns="0" tIns="0" rIns="0" bIns="0" rtlCol="0" anchor="ctr"/>
          <a:lstStyle/>
          <a:p>
            <a:pPr indent="0" marL="0">
              <a:buNone/>
            </a:pPr>
            <a:r>
              <a:rPr lang="en-US" sz="1200" b="1" spc="100" kern="0" dirty="0">
                <a:solidFill>
                  <a:srgbClr val="8A94A6"/>
                </a:solidFill>
                <a:latin typeface="Calibri" pitchFamily="34" charset="0"/>
                <a:ea typeface="Calibri" pitchFamily="34" charset="-122"/>
                <a:cs typeface="Calibri" pitchFamily="34" charset="-120"/>
              </a:rPr>
              <a:t>WEEK 1  ·  ORIGINAL QUESTION</a:t>
            </a:r>
            <a:endParaRPr lang="en-US" sz="1200" dirty="0"/>
          </a:p>
        </p:txBody>
      </p:sp>
      <p:sp>
        <p:nvSpPr>
          <p:cNvPr id="7" name="Text 5"/>
          <p:cNvSpPr/>
          <p:nvPr/>
        </p:nvSpPr>
        <p:spPr>
          <a:xfrm>
            <a:off x="822960" y="2103120"/>
            <a:ext cx="4846320" cy="868680"/>
          </a:xfrm>
          <a:prstGeom prst="rect">
            <a:avLst/>
          </a:prstGeom>
          <a:noFill/>
          <a:ln/>
        </p:spPr>
        <p:txBody>
          <a:bodyPr wrap="square" lIns="0" tIns="0" rIns="0" bIns="0" rtlCol="0" anchor="t"/>
          <a:lstStyle/>
          <a:p>
            <a:pPr indent="0" marL="0">
              <a:lnSpc>
                <a:spcPct val="103000"/>
              </a:lnSpc>
              <a:buNone/>
            </a:pPr>
            <a:r>
              <a:rPr lang="en-US" sz="1700" i="1" dirty="0">
                <a:solidFill>
                  <a:srgbClr val="22303F"/>
                </a:solidFill>
                <a:latin typeface="Georgia" pitchFamily="34" charset="0"/>
                <a:ea typeface="Georgia" pitchFamily="34" charset="-122"/>
                <a:cs typeface="Georgia" pitchFamily="34" charset="-120"/>
              </a:rPr>
              <a:t>“Can a spatio-temporal GNN beat a temporal-only LSTM baseline on METR-LA?”</a:t>
            </a:r>
            <a:endParaRPr lang="en-US" sz="1700" dirty="0"/>
          </a:p>
        </p:txBody>
      </p:sp>
      <p:sp>
        <p:nvSpPr>
          <p:cNvPr id="8" name="Text 6"/>
          <p:cNvSpPr/>
          <p:nvPr/>
        </p:nvSpPr>
        <p:spPr>
          <a:xfrm>
            <a:off x="822960" y="2971800"/>
            <a:ext cx="4846320" cy="411480"/>
          </a:xfrm>
          <a:prstGeom prst="rect">
            <a:avLst/>
          </a:prstGeom>
          <a:noFill/>
          <a:ln/>
        </p:spPr>
        <p:txBody>
          <a:bodyPr wrap="square" lIns="0" tIns="0" rIns="0" bIns="0" rtlCol="0" anchor="t"/>
          <a:lstStyle/>
          <a:p>
            <a:pPr indent="0" marL="0">
              <a:buNone/>
            </a:pPr>
            <a:r>
              <a:rPr lang="en-US" sz="1300" b="1" dirty="0">
                <a:solidFill>
                  <a:srgbClr val="C44536"/>
                </a:solidFill>
                <a:latin typeface="Calibri" pitchFamily="34" charset="0"/>
                <a:ea typeface="Calibri" pitchFamily="34" charset="-122"/>
                <a:cs typeface="Calibri" pitchFamily="34" charset="-120"/>
              </a:rPr>
              <a:t>Implicit assumption:  </a:t>
            </a:r>
            <a:pPr indent="0" marL="0">
              <a:buNone/>
            </a:pPr>
            <a:r>
              <a:rPr lang="en-US" sz="1300" dirty="0">
                <a:solidFill>
                  <a:srgbClr val="5C6B7A"/>
                </a:solidFill>
                <a:latin typeface="Calibri" pitchFamily="34" charset="0"/>
                <a:ea typeface="Calibri" pitchFamily="34" charset="-122"/>
                <a:cs typeface="Calibri" pitchFamily="34" charset="-120"/>
              </a:rPr>
              <a:t>the gains come from the spatial model.</a:t>
            </a:r>
            <a:endParaRPr lang="en-US" sz="1300" dirty="0"/>
          </a:p>
        </p:txBody>
      </p:sp>
      <p:sp>
        <p:nvSpPr>
          <p:cNvPr id="9" name="Shape 7"/>
          <p:cNvSpPr/>
          <p:nvPr/>
        </p:nvSpPr>
        <p:spPr>
          <a:xfrm>
            <a:off x="6309360" y="1600200"/>
            <a:ext cx="5349240" cy="1874520"/>
          </a:xfrm>
          <a:prstGeom prst="rect">
            <a:avLst/>
          </a:prstGeom>
          <a:solidFill>
            <a:srgbClr val="EAF4F2"/>
          </a:solidFill>
          <a:ln w="15240">
            <a:solidFill>
              <a:srgbClr val="2A9D8F"/>
            </a:solidFill>
            <a:prstDash val="solid"/>
          </a:ln>
          <a:effectLst>
            <a:outerShdw sx="100000" sy="100000" kx="0" ky="0" algn="bl" rotWithShape="0" blurRad="101600" dist="38100" dir="5400000">
              <a:srgbClr val="9AA7B4">
                <a:alpha val="25000"/>
              </a:srgbClr>
            </a:outerShdw>
          </a:effectLst>
        </p:spPr>
      </p:sp>
      <p:sp>
        <p:nvSpPr>
          <p:cNvPr id="10" name="Shape 8"/>
          <p:cNvSpPr/>
          <p:nvPr/>
        </p:nvSpPr>
        <p:spPr>
          <a:xfrm>
            <a:off x="6309360" y="1600200"/>
            <a:ext cx="91440" cy="1874520"/>
          </a:xfrm>
          <a:prstGeom prst="rect">
            <a:avLst/>
          </a:prstGeom>
          <a:solidFill>
            <a:srgbClr val="2A9D8F"/>
          </a:solidFill>
          <a:ln/>
        </p:spPr>
      </p:sp>
      <p:sp>
        <p:nvSpPr>
          <p:cNvPr id="11" name="Text 9"/>
          <p:cNvSpPr/>
          <p:nvPr/>
        </p:nvSpPr>
        <p:spPr>
          <a:xfrm>
            <a:off x="6583680" y="1783080"/>
            <a:ext cx="4892040" cy="274320"/>
          </a:xfrm>
          <a:prstGeom prst="rect">
            <a:avLst/>
          </a:prstGeom>
          <a:noFill/>
          <a:ln/>
        </p:spPr>
        <p:txBody>
          <a:bodyPr wrap="square" lIns="0" tIns="0" rIns="0" bIns="0" rtlCol="0" anchor="ctr"/>
          <a:lstStyle/>
          <a:p>
            <a:pPr indent="0" marL="0">
              <a:buNone/>
            </a:pPr>
            <a:r>
              <a:rPr lang="en-US" sz="1200" b="1" spc="100" kern="0" dirty="0">
                <a:solidFill>
                  <a:srgbClr val="2A9D8F"/>
                </a:solidFill>
                <a:latin typeface="Calibri" pitchFamily="34" charset="0"/>
                <a:ea typeface="Calibri" pitchFamily="34" charset="-122"/>
                <a:cs typeface="Calibri" pitchFamily="34" charset="-120"/>
              </a:rPr>
              <a:t>WEEK 5  ·  REVISED QUESTION  (a product of the loop)</a:t>
            </a:r>
            <a:endParaRPr lang="en-US" sz="1200" dirty="0"/>
          </a:p>
        </p:txBody>
      </p:sp>
      <p:sp>
        <p:nvSpPr>
          <p:cNvPr id="12" name="Text 10"/>
          <p:cNvSpPr/>
          <p:nvPr/>
        </p:nvSpPr>
        <p:spPr>
          <a:xfrm>
            <a:off x="6583680" y="2103120"/>
            <a:ext cx="4846320" cy="1005840"/>
          </a:xfrm>
          <a:prstGeom prst="rect">
            <a:avLst/>
          </a:prstGeom>
          <a:noFill/>
          <a:ln/>
        </p:spPr>
        <p:txBody>
          <a:bodyPr wrap="square" lIns="0" tIns="0" rIns="0" bIns="0" rtlCol="0" anchor="t"/>
          <a:lstStyle/>
          <a:p>
            <a:pPr indent="0" marL="0">
              <a:lnSpc>
                <a:spcPct val="103000"/>
              </a:lnSpc>
              <a:buNone/>
            </a:pPr>
            <a:r>
              <a:rPr lang="en-US" sz="1650" i="1" dirty="0">
                <a:solidFill>
                  <a:srgbClr val="22303F"/>
                </a:solidFill>
                <a:latin typeface="Georgia" pitchFamily="34" charset="0"/>
                <a:ea typeface="Georgia" pitchFamily="34" charset="-122"/>
                <a:cs typeface="Georgia" pitchFamily="34" charset="-120"/>
              </a:rPr>
              <a:t>“Where does the gain come from — temporal encoder, graph topology, or operator — and how much is real vs. seed noise?”</a:t>
            </a:r>
            <a:endParaRPr lang="en-US" sz="1650" dirty="0"/>
          </a:p>
        </p:txBody>
      </p:sp>
      <p:sp>
        <p:nvSpPr>
          <p:cNvPr id="13" name="Text 11"/>
          <p:cNvSpPr/>
          <p:nvPr/>
        </p:nvSpPr>
        <p:spPr>
          <a:xfrm>
            <a:off x="6583680" y="3081528"/>
            <a:ext cx="4846320" cy="320040"/>
          </a:xfrm>
          <a:prstGeom prst="rect">
            <a:avLst/>
          </a:prstGeom>
          <a:noFill/>
          <a:ln/>
        </p:spPr>
        <p:txBody>
          <a:bodyPr wrap="square" lIns="0" tIns="0" rIns="0" bIns="0" rtlCol="0" anchor="ctr"/>
          <a:lstStyle/>
          <a:p>
            <a:pPr indent="0" marL="0">
              <a:buNone/>
            </a:pPr>
            <a:r>
              <a:rPr lang="en-US" sz="1300" b="1" dirty="0">
                <a:solidFill>
                  <a:srgbClr val="2A9D8F"/>
                </a:solidFill>
                <a:latin typeface="Calibri" pitchFamily="34" charset="0"/>
                <a:ea typeface="Calibri" pitchFamily="34" charset="-122"/>
                <a:cs typeface="Calibri" pitchFamily="34" charset="-120"/>
              </a:rPr>
              <a:t>The loop itself forced this reframing.</a:t>
            </a:r>
            <a:endParaRPr lang="en-US" sz="1300" dirty="0"/>
          </a:p>
        </p:txBody>
      </p:sp>
      <p:sp>
        <p:nvSpPr>
          <p:cNvPr id="14" name="Text 12"/>
          <p:cNvSpPr/>
          <p:nvPr/>
        </p:nvSpPr>
        <p:spPr>
          <a:xfrm>
            <a:off x="548640" y="3794760"/>
            <a:ext cx="10972800" cy="274320"/>
          </a:xfrm>
          <a:prstGeom prst="rect">
            <a:avLst/>
          </a:prstGeom>
          <a:noFill/>
          <a:ln/>
        </p:spPr>
        <p:txBody>
          <a:bodyPr wrap="square" lIns="0" tIns="0" rIns="0" bIns="0" rtlCol="0" anchor="ctr"/>
          <a:lstStyle/>
          <a:p>
            <a:pPr indent="0" marL="0">
              <a:buNone/>
            </a:pPr>
            <a:r>
              <a:rPr lang="en-US" sz="1300" b="1" spc="100" kern="0" dirty="0">
                <a:solidFill>
                  <a:srgbClr val="1F3A5F"/>
                </a:solidFill>
                <a:latin typeface="Calibri" pitchFamily="34" charset="0"/>
                <a:ea typeface="Calibri" pitchFamily="34" charset="-122"/>
                <a:cs typeface="Calibri" pitchFamily="34" charset="-120"/>
              </a:rPr>
              <a:t>THE AUTORESEARCH CONTRACT</a:t>
            </a:r>
            <a:endParaRPr lang="en-US" sz="1300" dirty="0"/>
          </a:p>
        </p:txBody>
      </p:sp>
      <p:sp>
        <p:nvSpPr>
          <p:cNvPr id="15" name="Shape 13"/>
          <p:cNvSpPr/>
          <p:nvPr/>
        </p:nvSpPr>
        <p:spPr>
          <a:xfrm>
            <a:off x="548640" y="4160520"/>
            <a:ext cx="3529584" cy="1417320"/>
          </a:xfrm>
          <a:prstGeom prst="rect">
            <a:avLst/>
          </a:prstGeom>
          <a:solidFill>
            <a:srgbClr val="FFFFFF"/>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16" name="Shape 14"/>
          <p:cNvSpPr/>
          <p:nvPr/>
        </p:nvSpPr>
        <p:spPr>
          <a:xfrm>
            <a:off x="548640" y="4160520"/>
            <a:ext cx="3529584" cy="73152"/>
          </a:xfrm>
          <a:prstGeom prst="rect">
            <a:avLst/>
          </a:prstGeom>
          <a:solidFill>
            <a:srgbClr val="1F3A5F"/>
          </a:solidFill>
          <a:ln/>
        </p:spPr>
      </p:sp>
      <p:sp>
        <p:nvSpPr>
          <p:cNvPr id="17" name="Text 15"/>
          <p:cNvSpPr/>
          <p:nvPr/>
        </p:nvSpPr>
        <p:spPr>
          <a:xfrm>
            <a:off x="749808" y="4361688"/>
            <a:ext cx="3163824" cy="320040"/>
          </a:xfrm>
          <a:prstGeom prst="rect">
            <a:avLst/>
          </a:prstGeom>
          <a:noFill/>
          <a:ln/>
        </p:spPr>
        <p:txBody>
          <a:bodyPr wrap="square" lIns="0" tIns="0" rIns="0" bIns="0" rtlCol="0" anchor="ctr"/>
          <a:lstStyle/>
          <a:p>
            <a:pPr indent="0" marL="0">
              <a:buNone/>
            </a:pPr>
            <a:r>
              <a:rPr lang="en-US" sz="1400" b="1" spc="100" kern="0" dirty="0">
                <a:solidFill>
                  <a:srgbClr val="1F3A5F"/>
                </a:solidFill>
                <a:latin typeface="Calibri" pitchFamily="34" charset="0"/>
                <a:ea typeface="Calibri" pitchFamily="34" charset="-122"/>
                <a:cs typeface="Calibri" pitchFamily="34" charset="-120"/>
              </a:rPr>
              <a:t>INPUTS</a:t>
            </a:r>
            <a:endParaRPr lang="en-US" sz="1400" dirty="0"/>
          </a:p>
        </p:txBody>
      </p:sp>
      <p:sp>
        <p:nvSpPr>
          <p:cNvPr id="18" name="Text 16"/>
          <p:cNvSpPr/>
          <p:nvPr/>
        </p:nvSpPr>
        <p:spPr>
          <a:xfrm>
            <a:off x="749808" y="4727448"/>
            <a:ext cx="3127248" cy="777240"/>
          </a:xfrm>
          <a:prstGeom prst="rect">
            <a:avLst/>
          </a:prstGeom>
          <a:noFill/>
          <a:ln/>
        </p:spPr>
        <p:txBody>
          <a:bodyPr wrap="square" lIns="0" tIns="0" rIns="0" bIns="0" rtlCol="0" anchor="t"/>
          <a:lstStyle/>
          <a:p>
            <a:pPr indent="0" marL="0">
              <a:lnSpc>
                <a:spcPct val="102000"/>
              </a:lnSpc>
              <a:buNone/>
            </a:pPr>
            <a:r>
              <a:rPr lang="en-US" sz="1300" dirty="0">
                <a:solidFill>
                  <a:srgbClr val="22303F"/>
                </a:solidFill>
                <a:latin typeface="Calibri" pitchFamily="34" charset="0"/>
                <a:ea typeface="Calibri" pitchFamily="34" charset="-122"/>
                <a:cs typeface="Calibri" pitchFamily="34" charset="-120"/>
              </a:rPr>
              <a:t>Fixed dataset + fixed eval protocol; one mutable sandbox file (train.py).</a:t>
            </a:r>
            <a:endParaRPr lang="en-US" sz="1300" dirty="0"/>
          </a:p>
        </p:txBody>
      </p:sp>
      <p:sp>
        <p:nvSpPr>
          <p:cNvPr id="19" name="Shape 17"/>
          <p:cNvSpPr/>
          <p:nvPr/>
        </p:nvSpPr>
        <p:spPr>
          <a:xfrm>
            <a:off x="4242816" y="4160520"/>
            <a:ext cx="3529584" cy="1417320"/>
          </a:xfrm>
          <a:prstGeom prst="rect">
            <a:avLst/>
          </a:prstGeom>
          <a:solidFill>
            <a:srgbClr val="FFFFFF"/>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20" name="Shape 18"/>
          <p:cNvSpPr/>
          <p:nvPr/>
        </p:nvSpPr>
        <p:spPr>
          <a:xfrm>
            <a:off x="4242816" y="4160520"/>
            <a:ext cx="3529584" cy="73152"/>
          </a:xfrm>
          <a:prstGeom prst="rect">
            <a:avLst/>
          </a:prstGeom>
          <a:solidFill>
            <a:srgbClr val="2A9D8F"/>
          </a:solidFill>
          <a:ln/>
        </p:spPr>
      </p:sp>
      <p:sp>
        <p:nvSpPr>
          <p:cNvPr id="21" name="Text 19"/>
          <p:cNvSpPr/>
          <p:nvPr/>
        </p:nvSpPr>
        <p:spPr>
          <a:xfrm>
            <a:off x="4443984" y="4361688"/>
            <a:ext cx="3163824" cy="320040"/>
          </a:xfrm>
          <a:prstGeom prst="rect">
            <a:avLst/>
          </a:prstGeom>
          <a:noFill/>
          <a:ln/>
        </p:spPr>
        <p:txBody>
          <a:bodyPr wrap="square" lIns="0" tIns="0" rIns="0" bIns="0" rtlCol="0" anchor="ctr"/>
          <a:lstStyle/>
          <a:p>
            <a:pPr indent="0" marL="0">
              <a:buNone/>
            </a:pPr>
            <a:r>
              <a:rPr lang="en-US" sz="1400" b="1" spc="100" kern="0" dirty="0">
                <a:solidFill>
                  <a:srgbClr val="2A9D8F"/>
                </a:solidFill>
                <a:latin typeface="Calibri" pitchFamily="34" charset="0"/>
                <a:ea typeface="Calibri" pitchFamily="34" charset="-122"/>
                <a:cs typeface="Calibri" pitchFamily="34" charset="-120"/>
              </a:rPr>
              <a:t>LOOP</a:t>
            </a:r>
            <a:endParaRPr lang="en-US" sz="1400" dirty="0"/>
          </a:p>
        </p:txBody>
      </p:sp>
      <p:sp>
        <p:nvSpPr>
          <p:cNvPr id="22" name="Text 20"/>
          <p:cNvSpPr/>
          <p:nvPr/>
        </p:nvSpPr>
        <p:spPr>
          <a:xfrm>
            <a:off x="4443984" y="4727448"/>
            <a:ext cx="3127248" cy="777240"/>
          </a:xfrm>
          <a:prstGeom prst="rect">
            <a:avLst/>
          </a:prstGeom>
          <a:noFill/>
          <a:ln/>
        </p:spPr>
        <p:txBody>
          <a:bodyPr wrap="square" lIns="0" tIns="0" rIns="0" bIns="0" rtlCol="0" anchor="t"/>
          <a:lstStyle/>
          <a:p>
            <a:pPr indent="0" marL="0">
              <a:lnSpc>
                <a:spcPct val="102000"/>
              </a:lnSpc>
              <a:buNone/>
            </a:pPr>
            <a:r>
              <a:rPr lang="en-US" sz="1300" dirty="0">
                <a:solidFill>
                  <a:srgbClr val="22303F"/>
                </a:solidFill>
                <a:latin typeface="Calibri" pitchFamily="34" charset="0"/>
                <a:ea typeface="Calibri" pitchFamily="34" charset="-122"/>
                <a:cs typeface="Calibri" pitchFamily="34" charset="-120"/>
              </a:rPr>
              <a:t>Read → Hypothesize → Hack → Commit → Run → Parse → Logic-gate → Log.</a:t>
            </a:r>
            <a:endParaRPr lang="en-US" sz="1300" dirty="0"/>
          </a:p>
        </p:txBody>
      </p:sp>
      <p:sp>
        <p:nvSpPr>
          <p:cNvPr id="23" name="Shape 21"/>
          <p:cNvSpPr/>
          <p:nvPr/>
        </p:nvSpPr>
        <p:spPr>
          <a:xfrm>
            <a:off x="7936992" y="4160520"/>
            <a:ext cx="3529584" cy="1417320"/>
          </a:xfrm>
          <a:prstGeom prst="rect">
            <a:avLst/>
          </a:prstGeom>
          <a:solidFill>
            <a:srgbClr val="FFFFFF"/>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24" name="Shape 22"/>
          <p:cNvSpPr/>
          <p:nvPr/>
        </p:nvSpPr>
        <p:spPr>
          <a:xfrm>
            <a:off x="7936992" y="4160520"/>
            <a:ext cx="3529584" cy="73152"/>
          </a:xfrm>
          <a:prstGeom prst="rect">
            <a:avLst/>
          </a:prstGeom>
          <a:solidFill>
            <a:srgbClr val="E9A23B"/>
          </a:solidFill>
          <a:ln/>
        </p:spPr>
      </p:sp>
      <p:sp>
        <p:nvSpPr>
          <p:cNvPr id="25" name="Text 23"/>
          <p:cNvSpPr/>
          <p:nvPr/>
        </p:nvSpPr>
        <p:spPr>
          <a:xfrm>
            <a:off x="8138160" y="4361688"/>
            <a:ext cx="3163824" cy="320040"/>
          </a:xfrm>
          <a:prstGeom prst="rect">
            <a:avLst/>
          </a:prstGeom>
          <a:noFill/>
          <a:ln/>
        </p:spPr>
        <p:txBody>
          <a:bodyPr wrap="square" lIns="0" tIns="0" rIns="0" bIns="0" rtlCol="0" anchor="ctr"/>
          <a:lstStyle/>
          <a:p>
            <a:pPr indent="0" marL="0">
              <a:buNone/>
            </a:pPr>
            <a:r>
              <a:rPr lang="en-US" sz="1400" b="1" spc="100" kern="0" dirty="0">
                <a:solidFill>
                  <a:srgbClr val="E9A23B"/>
                </a:solidFill>
                <a:latin typeface="Calibri" pitchFamily="34" charset="0"/>
                <a:ea typeface="Calibri" pitchFamily="34" charset="-122"/>
                <a:cs typeface="Calibri" pitchFamily="34" charset="-120"/>
              </a:rPr>
              <a:t>OUTPUT</a:t>
            </a:r>
            <a:endParaRPr lang="en-US" sz="1400" dirty="0"/>
          </a:p>
        </p:txBody>
      </p:sp>
      <p:sp>
        <p:nvSpPr>
          <p:cNvPr id="26" name="Text 24"/>
          <p:cNvSpPr/>
          <p:nvPr/>
        </p:nvSpPr>
        <p:spPr>
          <a:xfrm>
            <a:off x="8138160" y="4727448"/>
            <a:ext cx="3127248" cy="777240"/>
          </a:xfrm>
          <a:prstGeom prst="rect">
            <a:avLst/>
          </a:prstGeom>
          <a:noFill/>
          <a:ln/>
        </p:spPr>
        <p:txBody>
          <a:bodyPr wrap="square" lIns="0" tIns="0" rIns="0" bIns="0" rtlCol="0" anchor="t"/>
          <a:lstStyle/>
          <a:p>
            <a:pPr indent="0" marL="0">
              <a:lnSpc>
                <a:spcPct val="102000"/>
              </a:lnSpc>
              <a:buNone/>
            </a:pPr>
            <a:r>
              <a:rPr lang="en-US" sz="1300" dirty="0">
                <a:solidFill>
                  <a:srgbClr val="22303F"/>
                </a:solidFill>
                <a:latin typeface="Calibri" pitchFamily="34" charset="0"/>
                <a:ea typeface="Calibri" pitchFamily="34" charset="-122"/>
                <a:cs typeface="Calibri" pitchFamily="34" charset="-120"/>
              </a:rPr>
              <a:t>A defensible decomposition of where gains come from — not one best number.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DATA, METRIC &amp; BASELINE</a:t>
            </a:r>
            <a:endParaRPr lang="en-US" sz="125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One honest temporal floor, measured in mph</a:t>
            </a:r>
            <a:endParaRPr lang="en-US" sz="2700" dirty="0"/>
          </a:p>
        </p:txBody>
      </p:sp>
      <p:sp>
        <p:nvSpPr>
          <p:cNvPr id="4" name="Shape 2"/>
          <p:cNvSpPr/>
          <p:nvPr/>
        </p:nvSpPr>
        <p:spPr>
          <a:xfrm>
            <a:off x="548640" y="1691640"/>
            <a:ext cx="5852160" cy="4160520"/>
          </a:xfrm>
          <a:prstGeom prst="rect">
            <a:avLst/>
          </a:prstGeom>
          <a:solidFill>
            <a:srgbClr val="F4F6F8"/>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5" name="Text 3"/>
          <p:cNvSpPr/>
          <p:nvPr/>
        </p:nvSpPr>
        <p:spPr>
          <a:xfrm>
            <a:off x="822960" y="1920240"/>
            <a:ext cx="5303520" cy="320040"/>
          </a:xfrm>
          <a:prstGeom prst="rect">
            <a:avLst/>
          </a:prstGeom>
          <a:noFill/>
          <a:ln/>
        </p:spPr>
        <p:txBody>
          <a:bodyPr wrap="square" lIns="0" tIns="0" rIns="0" bIns="0" rtlCol="0" anchor="ctr"/>
          <a:lstStyle/>
          <a:p>
            <a:pPr indent="0" marL="0">
              <a:buNone/>
            </a:pPr>
            <a:r>
              <a:rPr lang="en-US" sz="1350" b="1" spc="50" kern="0" dirty="0">
                <a:solidFill>
                  <a:srgbClr val="1F3A5F"/>
                </a:solidFill>
                <a:latin typeface="Calibri" pitchFamily="34" charset="0"/>
                <a:ea typeface="Calibri" pitchFamily="34" charset="-122"/>
                <a:cs typeface="Calibri" pitchFamily="34" charset="-120"/>
              </a:rPr>
              <a:t>THE SUBSTRATE  (held constant on every run)</a:t>
            </a:r>
            <a:endParaRPr lang="en-US" sz="1350" dirty="0"/>
          </a:p>
        </p:txBody>
      </p:sp>
      <p:sp>
        <p:nvSpPr>
          <p:cNvPr id="6" name="Text 4"/>
          <p:cNvSpPr/>
          <p:nvPr/>
        </p:nvSpPr>
        <p:spPr>
          <a:xfrm>
            <a:off x="822960" y="2350008"/>
            <a:ext cx="1554480" cy="50292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Dataset</a:t>
            </a:r>
            <a:endParaRPr lang="en-US" sz="1250" dirty="0"/>
          </a:p>
        </p:txBody>
      </p:sp>
      <p:sp>
        <p:nvSpPr>
          <p:cNvPr id="7" name="Text 5"/>
          <p:cNvSpPr/>
          <p:nvPr/>
        </p:nvSpPr>
        <p:spPr>
          <a:xfrm>
            <a:off x="2423160" y="2350008"/>
            <a:ext cx="3749040" cy="502920"/>
          </a:xfrm>
          <a:prstGeom prst="rect">
            <a:avLst/>
          </a:prstGeom>
          <a:noFill/>
          <a:ln/>
        </p:spPr>
        <p:txBody>
          <a:bodyPr wrap="square" lIns="0" tIns="0" rIns="0" bIns="0" rtlCol="0" anchor="ctr"/>
          <a:lstStyle/>
          <a:p>
            <a:pPr indent="0" marL="0">
              <a:lnSpc>
                <a:spcPct val="98000"/>
              </a:lnSpc>
              <a:buNone/>
            </a:pPr>
            <a:r>
              <a:rPr lang="en-US" sz="1250" dirty="0">
                <a:solidFill>
                  <a:srgbClr val="22303F"/>
                </a:solidFill>
                <a:latin typeface="Calibri" pitchFamily="34" charset="0"/>
                <a:ea typeface="Calibri" pitchFamily="34" charset="-122"/>
                <a:cs typeface="Calibri" pitchFamily="34" charset="-120"/>
              </a:rPr>
              <a:t>METR-LA freeway speeds  ·  tensor [34272, 207, 1]  ·  5-min resolution</a:t>
            </a:r>
            <a:endParaRPr lang="en-US" sz="1250" dirty="0"/>
          </a:p>
        </p:txBody>
      </p:sp>
      <p:sp>
        <p:nvSpPr>
          <p:cNvPr id="8" name="Shape 6"/>
          <p:cNvSpPr/>
          <p:nvPr/>
        </p:nvSpPr>
        <p:spPr>
          <a:xfrm>
            <a:off x="713232" y="2889504"/>
            <a:ext cx="5522976" cy="548640"/>
          </a:xfrm>
          <a:prstGeom prst="rect">
            <a:avLst/>
          </a:prstGeom>
          <a:solidFill>
            <a:srgbClr val="FFFFFF"/>
          </a:solidFill>
          <a:ln/>
        </p:spPr>
      </p:sp>
      <p:sp>
        <p:nvSpPr>
          <p:cNvPr id="9" name="Text 7"/>
          <p:cNvSpPr/>
          <p:nvPr/>
        </p:nvSpPr>
        <p:spPr>
          <a:xfrm>
            <a:off x="822960" y="2916936"/>
            <a:ext cx="1554480" cy="50292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Task window</a:t>
            </a:r>
            <a:endParaRPr lang="en-US" sz="1250" dirty="0"/>
          </a:p>
        </p:txBody>
      </p:sp>
      <p:sp>
        <p:nvSpPr>
          <p:cNvPr id="10" name="Text 8"/>
          <p:cNvSpPr/>
          <p:nvPr/>
        </p:nvSpPr>
        <p:spPr>
          <a:xfrm>
            <a:off x="2423160" y="2916936"/>
            <a:ext cx="3749040" cy="502920"/>
          </a:xfrm>
          <a:prstGeom prst="rect">
            <a:avLst/>
          </a:prstGeom>
          <a:noFill/>
          <a:ln/>
        </p:spPr>
        <p:txBody>
          <a:bodyPr wrap="square" lIns="0" tIns="0" rIns="0" bIns="0" rtlCol="0" anchor="ctr"/>
          <a:lstStyle/>
          <a:p>
            <a:pPr indent="0" marL="0">
              <a:lnSpc>
                <a:spcPct val="98000"/>
              </a:lnSpc>
              <a:buNone/>
            </a:pPr>
            <a:r>
              <a:rPr lang="en-US" sz="1250" dirty="0">
                <a:solidFill>
                  <a:srgbClr val="22303F"/>
                </a:solidFill>
                <a:latin typeface="Calibri" pitchFamily="34" charset="0"/>
                <a:ea typeface="Calibri" pitchFamily="34" charset="-122"/>
                <a:cs typeface="Calibri" pitchFamily="34" charset="-120"/>
              </a:rPr>
              <a:t>12 steps in (1 hour)  →  12 steps out (1 hour ahead)</a:t>
            </a:r>
            <a:endParaRPr lang="en-US" sz="1250" dirty="0"/>
          </a:p>
        </p:txBody>
      </p:sp>
      <p:sp>
        <p:nvSpPr>
          <p:cNvPr id="11" name="Text 9"/>
          <p:cNvSpPr/>
          <p:nvPr/>
        </p:nvSpPr>
        <p:spPr>
          <a:xfrm>
            <a:off x="822960" y="3483864"/>
            <a:ext cx="1554480" cy="50292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Split</a:t>
            </a:r>
            <a:endParaRPr lang="en-US" sz="1250" dirty="0"/>
          </a:p>
        </p:txBody>
      </p:sp>
      <p:sp>
        <p:nvSpPr>
          <p:cNvPr id="12" name="Text 10"/>
          <p:cNvSpPr/>
          <p:nvPr/>
        </p:nvSpPr>
        <p:spPr>
          <a:xfrm>
            <a:off x="2423160" y="3483864"/>
            <a:ext cx="3749040" cy="502920"/>
          </a:xfrm>
          <a:prstGeom prst="rect">
            <a:avLst/>
          </a:prstGeom>
          <a:noFill/>
          <a:ln/>
        </p:spPr>
        <p:txBody>
          <a:bodyPr wrap="square" lIns="0" tIns="0" rIns="0" bIns="0" rtlCol="0" anchor="ctr"/>
          <a:lstStyle/>
          <a:p>
            <a:pPr indent="0" marL="0">
              <a:lnSpc>
                <a:spcPct val="98000"/>
              </a:lnSpc>
              <a:buNone/>
            </a:pPr>
            <a:r>
              <a:rPr lang="en-US" sz="1250" dirty="0">
                <a:solidFill>
                  <a:srgbClr val="22303F"/>
                </a:solidFill>
                <a:latin typeface="Calibri" pitchFamily="34" charset="0"/>
                <a:ea typeface="Calibri" pitchFamily="34" charset="-122"/>
                <a:cs typeface="Calibri" pitchFamily="34" charset="-120"/>
              </a:rPr>
              <a:t>70 / 10 / 20 chronological  ·  no leakage across time</a:t>
            </a:r>
            <a:endParaRPr lang="en-US" sz="1250" dirty="0"/>
          </a:p>
        </p:txBody>
      </p:sp>
      <p:sp>
        <p:nvSpPr>
          <p:cNvPr id="13" name="Shape 11"/>
          <p:cNvSpPr/>
          <p:nvPr/>
        </p:nvSpPr>
        <p:spPr>
          <a:xfrm>
            <a:off x="713232" y="4023360"/>
            <a:ext cx="5522976" cy="548640"/>
          </a:xfrm>
          <a:prstGeom prst="rect">
            <a:avLst/>
          </a:prstGeom>
          <a:solidFill>
            <a:srgbClr val="FFFFFF"/>
          </a:solidFill>
          <a:ln/>
        </p:spPr>
      </p:sp>
      <p:sp>
        <p:nvSpPr>
          <p:cNvPr id="14" name="Text 12"/>
          <p:cNvSpPr/>
          <p:nvPr/>
        </p:nvSpPr>
        <p:spPr>
          <a:xfrm>
            <a:off x="822960" y="4050792"/>
            <a:ext cx="1554480" cy="50292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Normalization</a:t>
            </a:r>
            <a:endParaRPr lang="en-US" sz="1250" dirty="0"/>
          </a:p>
        </p:txBody>
      </p:sp>
      <p:sp>
        <p:nvSpPr>
          <p:cNvPr id="15" name="Text 13"/>
          <p:cNvSpPr/>
          <p:nvPr/>
        </p:nvSpPr>
        <p:spPr>
          <a:xfrm>
            <a:off x="2423160" y="4050792"/>
            <a:ext cx="3749040" cy="502920"/>
          </a:xfrm>
          <a:prstGeom prst="rect">
            <a:avLst/>
          </a:prstGeom>
          <a:noFill/>
          <a:ln/>
        </p:spPr>
        <p:txBody>
          <a:bodyPr wrap="square" lIns="0" tIns="0" rIns="0" bIns="0" rtlCol="0" anchor="ctr"/>
          <a:lstStyle/>
          <a:p>
            <a:pPr indent="0" marL="0">
              <a:lnSpc>
                <a:spcPct val="98000"/>
              </a:lnSpc>
              <a:buNone/>
            </a:pPr>
            <a:r>
              <a:rPr lang="en-US" sz="1250" dirty="0">
                <a:solidFill>
                  <a:srgbClr val="22303F"/>
                </a:solidFill>
                <a:latin typeface="Calibri" pitchFamily="34" charset="0"/>
                <a:ea typeface="Calibri" pitchFamily="34" charset="-122"/>
                <a:cs typeface="Calibri" pitchFamily="34" charset="-120"/>
              </a:rPr>
              <a:t>Per-sensor z-score, statistics fit on train split only</a:t>
            </a:r>
            <a:endParaRPr lang="en-US" sz="1250" dirty="0"/>
          </a:p>
        </p:txBody>
      </p:sp>
      <p:sp>
        <p:nvSpPr>
          <p:cNvPr id="16" name="Text 14"/>
          <p:cNvSpPr/>
          <p:nvPr/>
        </p:nvSpPr>
        <p:spPr>
          <a:xfrm>
            <a:off x="822960" y="4617720"/>
            <a:ext cx="1554480" cy="50292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Optimization</a:t>
            </a:r>
            <a:endParaRPr lang="en-US" sz="1250" dirty="0"/>
          </a:p>
        </p:txBody>
      </p:sp>
      <p:sp>
        <p:nvSpPr>
          <p:cNvPr id="17" name="Text 15"/>
          <p:cNvSpPr/>
          <p:nvPr/>
        </p:nvSpPr>
        <p:spPr>
          <a:xfrm>
            <a:off x="2423160" y="4617720"/>
            <a:ext cx="3749040" cy="502920"/>
          </a:xfrm>
          <a:prstGeom prst="rect">
            <a:avLst/>
          </a:prstGeom>
          <a:noFill/>
          <a:ln/>
        </p:spPr>
        <p:txBody>
          <a:bodyPr wrap="square" lIns="0" tIns="0" rIns="0" bIns="0" rtlCol="0" anchor="ctr"/>
          <a:lstStyle/>
          <a:p>
            <a:pPr indent="0" marL="0">
              <a:lnSpc>
                <a:spcPct val="98000"/>
              </a:lnSpc>
              <a:buNone/>
            </a:pPr>
            <a:r>
              <a:rPr lang="en-US" sz="1250" dirty="0">
                <a:solidFill>
                  <a:srgbClr val="22303F"/>
                </a:solidFill>
                <a:latin typeface="Calibri" pitchFamily="34" charset="0"/>
                <a:ea typeface="Calibri" pitchFamily="34" charset="-122"/>
                <a:cs typeface="Calibri" pitchFamily="34" charset="-120"/>
              </a:rPr>
              <a:t>Adam + MSE in normalized space  ·  lr 1e-3  ·  batch 64  ·  CPU</a:t>
            </a:r>
            <a:endParaRPr lang="en-US" sz="1250" dirty="0"/>
          </a:p>
        </p:txBody>
      </p:sp>
      <p:sp>
        <p:nvSpPr>
          <p:cNvPr id="18" name="Shape 16"/>
          <p:cNvSpPr/>
          <p:nvPr/>
        </p:nvSpPr>
        <p:spPr>
          <a:xfrm>
            <a:off x="713232" y="5157216"/>
            <a:ext cx="5522976" cy="548640"/>
          </a:xfrm>
          <a:prstGeom prst="rect">
            <a:avLst/>
          </a:prstGeom>
          <a:solidFill>
            <a:srgbClr val="FFFFFF"/>
          </a:solidFill>
          <a:ln/>
        </p:spPr>
      </p:sp>
      <p:sp>
        <p:nvSpPr>
          <p:cNvPr id="19" name="Text 17"/>
          <p:cNvSpPr/>
          <p:nvPr/>
        </p:nvSpPr>
        <p:spPr>
          <a:xfrm>
            <a:off x="822960" y="5184648"/>
            <a:ext cx="1554480" cy="50292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Evaluation</a:t>
            </a:r>
            <a:endParaRPr lang="en-US" sz="1250" dirty="0"/>
          </a:p>
        </p:txBody>
      </p:sp>
      <p:sp>
        <p:nvSpPr>
          <p:cNvPr id="20" name="Text 18"/>
          <p:cNvSpPr/>
          <p:nvPr/>
        </p:nvSpPr>
        <p:spPr>
          <a:xfrm>
            <a:off x="2423160" y="5184648"/>
            <a:ext cx="3749040" cy="502920"/>
          </a:xfrm>
          <a:prstGeom prst="rect">
            <a:avLst/>
          </a:prstGeom>
          <a:noFill/>
          <a:ln/>
        </p:spPr>
        <p:txBody>
          <a:bodyPr wrap="square" lIns="0" tIns="0" rIns="0" bIns="0" rtlCol="0" anchor="ctr"/>
          <a:lstStyle/>
          <a:p>
            <a:pPr indent="0" marL="0">
              <a:lnSpc>
                <a:spcPct val="98000"/>
              </a:lnSpc>
              <a:buNone/>
            </a:pPr>
            <a:r>
              <a:rPr lang="en-US" sz="1250" dirty="0">
                <a:solidFill>
                  <a:srgbClr val="22303F"/>
                </a:solidFill>
                <a:latin typeface="Calibri" pitchFamily="34" charset="0"/>
                <a:ea typeface="Calibri" pitchFamily="34" charset="-122"/>
                <a:cs typeface="Calibri" pitchFamily="34" charset="-120"/>
              </a:rPr>
              <a:t>Denormalized to mph — RMSE / MAE / R² are interpretable</a:t>
            </a:r>
            <a:endParaRPr lang="en-US" sz="1250" dirty="0"/>
          </a:p>
        </p:txBody>
      </p:sp>
      <p:sp>
        <p:nvSpPr>
          <p:cNvPr id="21" name="Text 19"/>
          <p:cNvSpPr/>
          <p:nvPr/>
        </p:nvSpPr>
        <p:spPr>
          <a:xfrm>
            <a:off x="6720840" y="1691640"/>
            <a:ext cx="4937760" cy="320040"/>
          </a:xfrm>
          <a:prstGeom prst="rect">
            <a:avLst/>
          </a:prstGeom>
          <a:noFill/>
          <a:ln/>
        </p:spPr>
        <p:txBody>
          <a:bodyPr wrap="square" lIns="0" tIns="0" rIns="0" bIns="0" rtlCol="0" anchor="ctr"/>
          <a:lstStyle/>
          <a:p>
            <a:pPr indent="0" marL="0">
              <a:buNone/>
            </a:pPr>
            <a:r>
              <a:rPr lang="en-US" sz="1350" b="1" spc="50" kern="0" dirty="0">
                <a:solidFill>
                  <a:srgbClr val="1F3A5F"/>
                </a:solidFill>
                <a:latin typeface="Calibri" pitchFamily="34" charset="0"/>
                <a:ea typeface="Calibri" pitchFamily="34" charset="-122"/>
                <a:cs typeface="Calibri" pitchFamily="34" charset="-120"/>
              </a:rPr>
              <a:t>BASELINE  ·  Vanilla LSTM</a:t>
            </a:r>
            <a:endParaRPr lang="en-US" sz="1350" dirty="0"/>
          </a:p>
        </p:txBody>
      </p:sp>
      <p:sp>
        <p:nvSpPr>
          <p:cNvPr id="22" name="Text 20"/>
          <p:cNvSpPr/>
          <p:nvPr/>
        </p:nvSpPr>
        <p:spPr>
          <a:xfrm>
            <a:off x="6720840" y="1984248"/>
            <a:ext cx="4937760" cy="274320"/>
          </a:xfrm>
          <a:prstGeom prst="rect">
            <a:avLst/>
          </a:prstGeom>
          <a:noFill/>
          <a:ln/>
        </p:spPr>
        <p:txBody>
          <a:bodyPr wrap="square" lIns="0" tIns="0" rIns="0" bIns="0" rtlCol="0" anchor="ctr"/>
          <a:lstStyle/>
          <a:p>
            <a:pPr indent="0" marL="0">
              <a:buNone/>
            </a:pPr>
            <a:r>
              <a:rPr lang="en-US" sz="1200" i="1" dirty="0">
                <a:solidFill>
                  <a:srgbClr val="5C6B7A"/>
                </a:solidFill>
                <a:latin typeface="Calibri" pitchFamily="34" charset="0"/>
                <a:ea typeface="Calibri" pitchFamily="34" charset="-122"/>
                <a:cs typeface="Calibri" pitchFamily="34" charset="-120"/>
              </a:rPr>
              <a:t>1 layer, hidden 64, treats 207 sensors as features</a:t>
            </a:r>
            <a:endParaRPr lang="en-US" sz="1200" dirty="0"/>
          </a:p>
        </p:txBody>
      </p:sp>
      <p:sp>
        <p:nvSpPr>
          <p:cNvPr id="23" name="Shape 21"/>
          <p:cNvSpPr/>
          <p:nvPr/>
        </p:nvSpPr>
        <p:spPr>
          <a:xfrm>
            <a:off x="6720840" y="2423160"/>
            <a:ext cx="4919472" cy="1005840"/>
          </a:xfrm>
          <a:prstGeom prst="rect">
            <a:avLst/>
          </a:prstGeom>
          <a:solidFill>
            <a:srgbClr val="FFFFFF"/>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24" name="Shape 22"/>
          <p:cNvSpPr/>
          <p:nvPr/>
        </p:nvSpPr>
        <p:spPr>
          <a:xfrm>
            <a:off x="6720840" y="2423160"/>
            <a:ext cx="91440" cy="1005840"/>
          </a:xfrm>
          <a:prstGeom prst="rect">
            <a:avLst/>
          </a:prstGeom>
          <a:solidFill>
            <a:srgbClr val="1F3A5F"/>
          </a:solidFill>
          <a:ln/>
        </p:spPr>
      </p:sp>
      <p:sp>
        <p:nvSpPr>
          <p:cNvPr id="25" name="Text 23"/>
          <p:cNvSpPr/>
          <p:nvPr/>
        </p:nvSpPr>
        <p:spPr>
          <a:xfrm>
            <a:off x="6995160" y="2468880"/>
            <a:ext cx="2286000" cy="914400"/>
          </a:xfrm>
          <a:prstGeom prst="rect">
            <a:avLst/>
          </a:prstGeom>
          <a:noFill/>
          <a:ln/>
        </p:spPr>
        <p:txBody>
          <a:bodyPr wrap="square" lIns="0" tIns="0" rIns="0" bIns="0" rtlCol="0" anchor="ctr"/>
          <a:lstStyle/>
          <a:p>
            <a:pPr indent="0" marL="0">
              <a:buNone/>
            </a:pPr>
            <a:r>
              <a:rPr lang="en-US" sz="4000" b="1" dirty="0">
                <a:solidFill>
                  <a:srgbClr val="1F3A5F"/>
                </a:solidFill>
                <a:latin typeface="Georgia" pitchFamily="34" charset="0"/>
                <a:ea typeface="Georgia" pitchFamily="34" charset="-122"/>
                <a:cs typeface="Georgia" pitchFamily="34" charset="-120"/>
              </a:rPr>
              <a:t>15.00</a:t>
            </a:r>
            <a:endParaRPr lang="en-US" sz="4000" dirty="0"/>
          </a:p>
        </p:txBody>
      </p:sp>
      <p:sp>
        <p:nvSpPr>
          <p:cNvPr id="26" name="Text 24"/>
          <p:cNvSpPr/>
          <p:nvPr/>
        </p:nvSpPr>
        <p:spPr>
          <a:xfrm>
            <a:off x="9372600" y="2423160"/>
            <a:ext cx="2194560" cy="1005840"/>
          </a:xfrm>
          <a:prstGeom prst="rect">
            <a:avLst/>
          </a:prstGeom>
          <a:noFill/>
          <a:ln/>
        </p:spPr>
        <p:txBody>
          <a:bodyPr wrap="square" lIns="0" tIns="0" rIns="0" bIns="0" rtlCol="0" anchor="ctr"/>
          <a:lstStyle/>
          <a:p>
            <a:pPr indent="0" marL="0">
              <a:buNone/>
            </a:pPr>
            <a:r>
              <a:rPr lang="en-US" sz="1400" dirty="0">
                <a:solidFill>
                  <a:srgbClr val="22303F"/>
                </a:solidFill>
                <a:latin typeface="Calibri" pitchFamily="34" charset="0"/>
                <a:ea typeface="Calibri" pitchFamily="34" charset="-122"/>
                <a:cs typeface="Calibri" pitchFamily="34" charset="-120"/>
              </a:rPr>
              <a:t>Test RMSE (mph)</a:t>
            </a:r>
            <a:endParaRPr lang="en-US" sz="1400" dirty="0"/>
          </a:p>
        </p:txBody>
      </p:sp>
      <p:sp>
        <p:nvSpPr>
          <p:cNvPr id="27" name="Shape 25"/>
          <p:cNvSpPr/>
          <p:nvPr/>
        </p:nvSpPr>
        <p:spPr>
          <a:xfrm>
            <a:off x="6720840" y="3538728"/>
            <a:ext cx="4919472" cy="1005840"/>
          </a:xfrm>
          <a:prstGeom prst="rect">
            <a:avLst/>
          </a:prstGeom>
          <a:solidFill>
            <a:srgbClr val="FFFFFF"/>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28" name="Shape 26"/>
          <p:cNvSpPr/>
          <p:nvPr/>
        </p:nvSpPr>
        <p:spPr>
          <a:xfrm>
            <a:off x="6720840" y="3538728"/>
            <a:ext cx="91440" cy="1005840"/>
          </a:xfrm>
          <a:prstGeom prst="rect">
            <a:avLst/>
          </a:prstGeom>
          <a:solidFill>
            <a:srgbClr val="2A9D8F"/>
          </a:solidFill>
          <a:ln/>
        </p:spPr>
      </p:sp>
      <p:sp>
        <p:nvSpPr>
          <p:cNvPr id="29" name="Text 27"/>
          <p:cNvSpPr/>
          <p:nvPr/>
        </p:nvSpPr>
        <p:spPr>
          <a:xfrm>
            <a:off x="6995160" y="3584448"/>
            <a:ext cx="2286000" cy="914400"/>
          </a:xfrm>
          <a:prstGeom prst="rect">
            <a:avLst/>
          </a:prstGeom>
          <a:noFill/>
          <a:ln/>
        </p:spPr>
        <p:txBody>
          <a:bodyPr wrap="square" lIns="0" tIns="0" rIns="0" bIns="0" rtlCol="0" anchor="ctr"/>
          <a:lstStyle/>
          <a:p>
            <a:pPr indent="0" marL="0">
              <a:buNone/>
            </a:pPr>
            <a:r>
              <a:rPr lang="en-US" sz="4000" b="1" dirty="0">
                <a:solidFill>
                  <a:srgbClr val="2A9D8F"/>
                </a:solidFill>
                <a:latin typeface="Georgia" pitchFamily="34" charset="0"/>
                <a:ea typeface="Georgia" pitchFamily="34" charset="-122"/>
                <a:cs typeface="Georgia" pitchFamily="34" charset="-120"/>
              </a:rPr>
              <a:t>8.91</a:t>
            </a:r>
            <a:endParaRPr lang="en-US" sz="4000" dirty="0"/>
          </a:p>
        </p:txBody>
      </p:sp>
      <p:sp>
        <p:nvSpPr>
          <p:cNvPr id="30" name="Text 28"/>
          <p:cNvSpPr/>
          <p:nvPr/>
        </p:nvSpPr>
        <p:spPr>
          <a:xfrm>
            <a:off x="9372600" y="3538728"/>
            <a:ext cx="2194560" cy="1005840"/>
          </a:xfrm>
          <a:prstGeom prst="rect">
            <a:avLst/>
          </a:prstGeom>
          <a:noFill/>
          <a:ln/>
        </p:spPr>
        <p:txBody>
          <a:bodyPr wrap="square" lIns="0" tIns="0" rIns="0" bIns="0" rtlCol="0" anchor="ctr"/>
          <a:lstStyle/>
          <a:p>
            <a:pPr indent="0" marL="0">
              <a:buNone/>
            </a:pPr>
            <a:r>
              <a:rPr lang="en-US" sz="1400" dirty="0">
                <a:solidFill>
                  <a:srgbClr val="22303F"/>
                </a:solidFill>
                <a:latin typeface="Calibri" pitchFamily="34" charset="0"/>
                <a:ea typeface="Calibri" pitchFamily="34" charset="-122"/>
                <a:cs typeface="Calibri" pitchFamily="34" charset="-120"/>
              </a:rPr>
              <a:t>Test MAE (mph)</a:t>
            </a:r>
            <a:endParaRPr lang="en-US" sz="1400" dirty="0"/>
          </a:p>
        </p:txBody>
      </p:sp>
      <p:sp>
        <p:nvSpPr>
          <p:cNvPr id="31" name="Shape 29"/>
          <p:cNvSpPr/>
          <p:nvPr/>
        </p:nvSpPr>
        <p:spPr>
          <a:xfrm>
            <a:off x="6720840" y="4654296"/>
            <a:ext cx="4919472" cy="1005840"/>
          </a:xfrm>
          <a:prstGeom prst="rect">
            <a:avLst/>
          </a:prstGeom>
          <a:solidFill>
            <a:srgbClr val="FFFFFF"/>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32" name="Shape 30"/>
          <p:cNvSpPr/>
          <p:nvPr/>
        </p:nvSpPr>
        <p:spPr>
          <a:xfrm>
            <a:off x="6720840" y="4654296"/>
            <a:ext cx="91440" cy="1005840"/>
          </a:xfrm>
          <a:prstGeom prst="rect">
            <a:avLst/>
          </a:prstGeom>
          <a:solidFill>
            <a:srgbClr val="E9A23B"/>
          </a:solidFill>
          <a:ln/>
        </p:spPr>
      </p:sp>
      <p:sp>
        <p:nvSpPr>
          <p:cNvPr id="33" name="Text 31"/>
          <p:cNvSpPr/>
          <p:nvPr/>
        </p:nvSpPr>
        <p:spPr>
          <a:xfrm>
            <a:off x="6995160" y="4700016"/>
            <a:ext cx="2286000" cy="914400"/>
          </a:xfrm>
          <a:prstGeom prst="rect">
            <a:avLst/>
          </a:prstGeom>
          <a:noFill/>
          <a:ln/>
        </p:spPr>
        <p:txBody>
          <a:bodyPr wrap="square" lIns="0" tIns="0" rIns="0" bIns="0" rtlCol="0" anchor="ctr"/>
          <a:lstStyle/>
          <a:p>
            <a:pPr indent="0" marL="0">
              <a:buNone/>
            </a:pPr>
            <a:r>
              <a:rPr lang="en-US" sz="4000" b="1" dirty="0">
                <a:solidFill>
                  <a:srgbClr val="E9A23B"/>
                </a:solidFill>
                <a:latin typeface="Georgia" pitchFamily="34" charset="0"/>
                <a:ea typeface="Georgia" pitchFamily="34" charset="-122"/>
                <a:cs typeface="Georgia" pitchFamily="34" charset="-120"/>
              </a:rPr>
              <a:t>0.567</a:t>
            </a:r>
            <a:endParaRPr lang="en-US" sz="4000" dirty="0"/>
          </a:p>
        </p:txBody>
      </p:sp>
      <p:sp>
        <p:nvSpPr>
          <p:cNvPr id="34" name="Text 32"/>
          <p:cNvSpPr/>
          <p:nvPr/>
        </p:nvSpPr>
        <p:spPr>
          <a:xfrm>
            <a:off x="9372600" y="4654296"/>
            <a:ext cx="2194560" cy="1005840"/>
          </a:xfrm>
          <a:prstGeom prst="rect">
            <a:avLst/>
          </a:prstGeom>
          <a:noFill/>
          <a:ln/>
        </p:spPr>
        <p:txBody>
          <a:bodyPr wrap="square" lIns="0" tIns="0" rIns="0" bIns="0" rtlCol="0" anchor="ctr"/>
          <a:lstStyle/>
          <a:p>
            <a:pPr indent="0" marL="0">
              <a:buNone/>
            </a:pPr>
            <a:r>
              <a:rPr lang="en-US" sz="1400" dirty="0">
                <a:solidFill>
                  <a:srgbClr val="22303F"/>
                </a:solidFill>
                <a:latin typeface="Calibri" pitchFamily="34" charset="0"/>
                <a:ea typeface="Calibri" pitchFamily="34" charset="-122"/>
                <a:cs typeface="Calibri" pitchFamily="34" charset="-120"/>
              </a:rPr>
              <a:t>Test R²</a:t>
            </a:r>
            <a:endParaRPr lang="en-US" sz="1400" dirty="0"/>
          </a:p>
        </p:txBody>
      </p:sp>
      <p:sp>
        <p:nvSpPr>
          <p:cNvPr id="35" name="Text 33"/>
          <p:cNvSpPr/>
          <p:nvPr/>
        </p:nvSpPr>
        <p:spPr>
          <a:xfrm>
            <a:off x="6720840" y="5788152"/>
            <a:ext cx="4919472" cy="548640"/>
          </a:xfrm>
          <a:prstGeom prst="rect">
            <a:avLst/>
          </a:prstGeom>
          <a:noFill/>
          <a:ln/>
        </p:spPr>
        <p:txBody>
          <a:bodyPr wrap="square" lIns="0" tIns="0" rIns="0" bIns="0" rtlCol="0" anchor="t"/>
          <a:lstStyle/>
          <a:p>
            <a:pPr indent="0" marL="0">
              <a:lnSpc>
                <a:spcPct val="100000"/>
              </a:lnSpc>
              <a:buNone/>
            </a:pPr>
            <a:r>
              <a:rPr lang="en-US" sz="1250" i="1" dirty="0">
                <a:solidFill>
                  <a:srgbClr val="5C6B7A"/>
                </a:solidFill>
                <a:latin typeface="Calibri" pitchFamily="34" charset="0"/>
                <a:ea typeface="Calibri" pitchFamily="34" charset="-122"/>
                <a:cs typeface="Calibri" pitchFamily="34" charset="-120"/>
              </a:rPr>
              <a:t>Intentionally simple — the floor against which we measure what graph structure actually adds.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AGENT LOOP DESIGN</a:t>
            </a:r>
            <a:endParaRPr lang="en-US" sz="125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The logic gate is the forcing function</a:t>
            </a:r>
            <a:endParaRPr lang="en-US" sz="2700" dirty="0"/>
          </a:p>
        </p:txBody>
      </p:sp>
      <p:sp>
        <p:nvSpPr>
          <p:cNvPr id="4" name="Shape 2"/>
          <p:cNvSpPr/>
          <p:nvPr/>
        </p:nvSpPr>
        <p:spPr>
          <a:xfrm>
            <a:off x="548640" y="1783080"/>
            <a:ext cx="566928" cy="566928"/>
          </a:xfrm>
          <a:prstGeom prst="ellipse">
            <a:avLst/>
          </a:prstGeom>
          <a:solidFill>
            <a:srgbClr val="1F3A5F"/>
          </a:solidFill>
          <a:ln/>
        </p:spPr>
      </p:sp>
      <p:sp>
        <p:nvSpPr>
          <p:cNvPr id="5" name="Text 3"/>
          <p:cNvSpPr/>
          <p:nvPr/>
        </p:nvSpPr>
        <p:spPr>
          <a:xfrm>
            <a:off x="548640"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1</a:t>
            </a:r>
            <a:endParaRPr lang="en-US" sz="1900" dirty="0"/>
          </a:p>
        </p:txBody>
      </p:sp>
      <p:sp>
        <p:nvSpPr>
          <p:cNvPr id="6" name="Text 4"/>
          <p:cNvSpPr/>
          <p:nvPr/>
        </p:nvSpPr>
        <p:spPr>
          <a:xfrm>
            <a:off x="292608" y="2386584"/>
            <a:ext cx="1078992" cy="502920"/>
          </a:xfrm>
          <a:prstGeom prst="rect">
            <a:avLst/>
          </a:prstGeom>
          <a:noFill/>
          <a:ln/>
        </p:spPr>
        <p:txBody>
          <a:bodyPr wrap="square" lIns="0" tIns="0" rIns="0" bIns="0" rtlCol="0" anchor="t"/>
          <a:lstStyle/>
          <a:p>
            <a:pPr algn="ctr" indent="0" marL="0">
              <a:lnSpc>
                <a:spcPct val="95000"/>
              </a:lnSpc>
              <a:buNone/>
            </a:pPr>
            <a:r>
              <a:rPr lang="en-US" sz="1250" dirty="0">
                <a:solidFill>
                  <a:srgbClr val="22303F"/>
                </a:solidFill>
                <a:latin typeface="Calibri" pitchFamily="34" charset="0"/>
                <a:ea typeface="Calibri" pitchFamily="34" charset="-122"/>
                <a:cs typeface="Calibri" pitchFamily="34" charset="-120"/>
              </a:rPr>
              <a:t>Read</a:t>
            </a:r>
            <a:endParaRPr lang="en-US" sz="1250" dirty="0"/>
          </a:p>
        </p:txBody>
      </p:sp>
      <p:sp>
        <p:nvSpPr>
          <p:cNvPr id="7" name="Shape 5"/>
          <p:cNvSpPr/>
          <p:nvPr/>
        </p:nvSpPr>
        <p:spPr>
          <a:xfrm>
            <a:off x="1115568" y="2066544"/>
            <a:ext cx="354003" cy="0"/>
          </a:xfrm>
          <a:prstGeom prst="line">
            <a:avLst/>
          </a:prstGeom>
          <a:noFill/>
          <a:ln w="25400">
            <a:solidFill>
              <a:srgbClr val="D7DCE2"/>
            </a:solidFill>
            <a:prstDash val="solid"/>
          </a:ln>
        </p:spPr>
      </p:sp>
      <p:sp>
        <p:nvSpPr>
          <p:cNvPr id="8" name="Shape 6"/>
          <p:cNvSpPr/>
          <p:nvPr/>
        </p:nvSpPr>
        <p:spPr>
          <a:xfrm>
            <a:off x="1981635" y="1783080"/>
            <a:ext cx="566928" cy="566928"/>
          </a:xfrm>
          <a:prstGeom prst="ellipse">
            <a:avLst/>
          </a:prstGeom>
          <a:solidFill>
            <a:srgbClr val="1F3A5F"/>
          </a:solidFill>
          <a:ln/>
        </p:spPr>
      </p:sp>
      <p:sp>
        <p:nvSpPr>
          <p:cNvPr id="9" name="Text 7"/>
          <p:cNvSpPr/>
          <p:nvPr/>
        </p:nvSpPr>
        <p:spPr>
          <a:xfrm>
            <a:off x="1981635"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2</a:t>
            </a:r>
            <a:endParaRPr lang="en-US" sz="1900" dirty="0"/>
          </a:p>
        </p:txBody>
      </p:sp>
      <p:sp>
        <p:nvSpPr>
          <p:cNvPr id="10" name="Text 8"/>
          <p:cNvSpPr/>
          <p:nvPr/>
        </p:nvSpPr>
        <p:spPr>
          <a:xfrm>
            <a:off x="1725603" y="2386584"/>
            <a:ext cx="1078992" cy="502920"/>
          </a:xfrm>
          <a:prstGeom prst="rect">
            <a:avLst/>
          </a:prstGeom>
          <a:noFill/>
          <a:ln/>
        </p:spPr>
        <p:txBody>
          <a:bodyPr wrap="square" lIns="0" tIns="0" rIns="0" bIns="0" rtlCol="0" anchor="t"/>
          <a:lstStyle/>
          <a:p>
            <a:pPr algn="ctr" indent="0" marL="0">
              <a:lnSpc>
                <a:spcPct val="95000"/>
              </a:lnSpc>
              <a:buNone/>
            </a:pPr>
            <a:r>
              <a:rPr lang="en-US" sz="1250" dirty="0">
                <a:solidFill>
                  <a:srgbClr val="22303F"/>
                </a:solidFill>
                <a:latin typeface="Calibri" pitchFamily="34" charset="0"/>
                <a:ea typeface="Calibri" pitchFamily="34" charset="-122"/>
                <a:cs typeface="Calibri" pitchFamily="34" charset="-120"/>
              </a:rPr>
              <a:t>Hypothesize</a:t>
            </a:r>
            <a:endParaRPr lang="en-US" sz="1250" dirty="0"/>
          </a:p>
        </p:txBody>
      </p:sp>
      <p:sp>
        <p:nvSpPr>
          <p:cNvPr id="11" name="Shape 9"/>
          <p:cNvSpPr/>
          <p:nvPr/>
        </p:nvSpPr>
        <p:spPr>
          <a:xfrm>
            <a:off x="2548563" y="2066544"/>
            <a:ext cx="354003" cy="0"/>
          </a:xfrm>
          <a:prstGeom prst="line">
            <a:avLst/>
          </a:prstGeom>
          <a:noFill/>
          <a:ln w="25400">
            <a:solidFill>
              <a:srgbClr val="D7DCE2"/>
            </a:solidFill>
            <a:prstDash val="solid"/>
          </a:ln>
        </p:spPr>
      </p:sp>
      <p:sp>
        <p:nvSpPr>
          <p:cNvPr id="12" name="Shape 10"/>
          <p:cNvSpPr/>
          <p:nvPr/>
        </p:nvSpPr>
        <p:spPr>
          <a:xfrm>
            <a:off x="3414631" y="1783080"/>
            <a:ext cx="566928" cy="566928"/>
          </a:xfrm>
          <a:prstGeom prst="ellipse">
            <a:avLst/>
          </a:prstGeom>
          <a:solidFill>
            <a:srgbClr val="1F3A5F"/>
          </a:solidFill>
          <a:ln/>
        </p:spPr>
      </p:sp>
      <p:sp>
        <p:nvSpPr>
          <p:cNvPr id="13" name="Text 11"/>
          <p:cNvSpPr/>
          <p:nvPr/>
        </p:nvSpPr>
        <p:spPr>
          <a:xfrm>
            <a:off x="3414631"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3</a:t>
            </a:r>
            <a:endParaRPr lang="en-US" sz="1900" dirty="0"/>
          </a:p>
        </p:txBody>
      </p:sp>
      <p:sp>
        <p:nvSpPr>
          <p:cNvPr id="14" name="Text 12"/>
          <p:cNvSpPr/>
          <p:nvPr/>
        </p:nvSpPr>
        <p:spPr>
          <a:xfrm>
            <a:off x="3158599" y="2386584"/>
            <a:ext cx="1078992" cy="502920"/>
          </a:xfrm>
          <a:prstGeom prst="rect">
            <a:avLst/>
          </a:prstGeom>
          <a:noFill/>
          <a:ln/>
        </p:spPr>
        <p:txBody>
          <a:bodyPr wrap="square" lIns="0" tIns="0" rIns="0" bIns="0" rtlCol="0" anchor="t"/>
          <a:lstStyle/>
          <a:p>
            <a:pPr algn="ctr" indent="0" marL="0">
              <a:lnSpc>
                <a:spcPct val="95000"/>
              </a:lnSpc>
              <a:buNone/>
            </a:pPr>
            <a:r>
              <a:rPr lang="en-US" sz="1250" dirty="0">
                <a:solidFill>
                  <a:srgbClr val="22303F"/>
                </a:solidFill>
                <a:latin typeface="Calibri" pitchFamily="34" charset="0"/>
                <a:ea typeface="Calibri" pitchFamily="34" charset="-122"/>
                <a:cs typeface="Calibri" pitchFamily="34" charset="-120"/>
              </a:rPr>
              <a:t>Hack</a:t>
            </a:r>
            <a:endParaRPr lang="en-US" sz="1250" dirty="0"/>
          </a:p>
        </p:txBody>
      </p:sp>
      <p:sp>
        <p:nvSpPr>
          <p:cNvPr id="15" name="Shape 13"/>
          <p:cNvSpPr/>
          <p:nvPr/>
        </p:nvSpPr>
        <p:spPr>
          <a:xfrm>
            <a:off x="3981559" y="2066544"/>
            <a:ext cx="354003" cy="0"/>
          </a:xfrm>
          <a:prstGeom prst="line">
            <a:avLst/>
          </a:prstGeom>
          <a:noFill/>
          <a:ln w="25400">
            <a:solidFill>
              <a:srgbClr val="D7DCE2"/>
            </a:solidFill>
            <a:prstDash val="solid"/>
          </a:ln>
        </p:spPr>
      </p:sp>
      <p:sp>
        <p:nvSpPr>
          <p:cNvPr id="16" name="Shape 14"/>
          <p:cNvSpPr/>
          <p:nvPr/>
        </p:nvSpPr>
        <p:spPr>
          <a:xfrm>
            <a:off x="4847626" y="1783080"/>
            <a:ext cx="566928" cy="566928"/>
          </a:xfrm>
          <a:prstGeom prst="ellipse">
            <a:avLst/>
          </a:prstGeom>
          <a:solidFill>
            <a:srgbClr val="1F3A5F"/>
          </a:solidFill>
          <a:ln/>
        </p:spPr>
      </p:sp>
      <p:sp>
        <p:nvSpPr>
          <p:cNvPr id="17" name="Text 15"/>
          <p:cNvSpPr/>
          <p:nvPr/>
        </p:nvSpPr>
        <p:spPr>
          <a:xfrm>
            <a:off x="4847626"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4</a:t>
            </a:r>
            <a:endParaRPr lang="en-US" sz="1900" dirty="0"/>
          </a:p>
        </p:txBody>
      </p:sp>
      <p:sp>
        <p:nvSpPr>
          <p:cNvPr id="18" name="Text 16"/>
          <p:cNvSpPr/>
          <p:nvPr/>
        </p:nvSpPr>
        <p:spPr>
          <a:xfrm>
            <a:off x="4591594" y="2386584"/>
            <a:ext cx="1078992" cy="502920"/>
          </a:xfrm>
          <a:prstGeom prst="rect">
            <a:avLst/>
          </a:prstGeom>
          <a:noFill/>
          <a:ln/>
        </p:spPr>
        <p:txBody>
          <a:bodyPr wrap="square" lIns="0" tIns="0" rIns="0" bIns="0" rtlCol="0" anchor="t"/>
          <a:lstStyle/>
          <a:p>
            <a:pPr algn="ctr" indent="0" marL="0">
              <a:lnSpc>
                <a:spcPct val="95000"/>
              </a:lnSpc>
              <a:buNone/>
            </a:pPr>
            <a:r>
              <a:rPr lang="en-US" sz="1250" dirty="0">
                <a:solidFill>
                  <a:srgbClr val="22303F"/>
                </a:solidFill>
                <a:latin typeface="Calibri" pitchFamily="34" charset="0"/>
                <a:ea typeface="Calibri" pitchFamily="34" charset="-122"/>
                <a:cs typeface="Calibri" pitchFamily="34" charset="-120"/>
              </a:rPr>
              <a:t>Commit</a:t>
            </a:r>
            <a:endParaRPr lang="en-US" sz="1250" dirty="0"/>
          </a:p>
        </p:txBody>
      </p:sp>
      <p:sp>
        <p:nvSpPr>
          <p:cNvPr id="19" name="Shape 17"/>
          <p:cNvSpPr/>
          <p:nvPr/>
        </p:nvSpPr>
        <p:spPr>
          <a:xfrm>
            <a:off x="5414554" y="2066544"/>
            <a:ext cx="354003" cy="0"/>
          </a:xfrm>
          <a:prstGeom prst="line">
            <a:avLst/>
          </a:prstGeom>
          <a:noFill/>
          <a:ln w="25400">
            <a:solidFill>
              <a:srgbClr val="D7DCE2"/>
            </a:solidFill>
            <a:prstDash val="solid"/>
          </a:ln>
        </p:spPr>
      </p:sp>
      <p:sp>
        <p:nvSpPr>
          <p:cNvPr id="20" name="Shape 18"/>
          <p:cNvSpPr/>
          <p:nvPr/>
        </p:nvSpPr>
        <p:spPr>
          <a:xfrm>
            <a:off x="6280622" y="1783080"/>
            <a:ext cx="566928" cy="566928"/>
          </a:xfrm>
          <a:prstGeom prst="ellipse">
            <a:avLst/>
          </a:prstGeom>
          <a:solidFill>
            <a:srgbClr val="1F3A5F"/>
          </a:solidFill>
          <a:ln/>
        </p:spPr>
      </p:sp>
      <p:sp>
        <p:nvSpPr>
          <p:cNvPr id="21" name="Text 19"/>
          <p:cNvSpPr/>
          <p:nvPr/>
        </p:nvSpPr>
        <p:spPr>
          <a:xfrm>
            <a:off x="6280622"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5</a:t>
            </a:r>
            <a:endParaRPr lang="en-US" sz="1900" dirty="0"/>
          </a:p>
        </p:txBody>
      </p:sp>
      <p:sp>
        <p:nvSpPr>
          <p:cNvPr id="22" name="Text 20"/>
          <p:cNvSpPr/>
          <p:nvPr/>
        </p:nvSpPr>
        <p:spPr>
          <a:xfrm>
            <a:off x="6024590" y="2386584"/>
            <a:ext cx="1078992" cy="502920"/>
          </a:xfrm>
          <a:prstGeom prst="rect">
            <a:avLst/>
          </a:prstGeom>
          <a:noFill/>
          <a:ln/>
        </p:spPr>
        <p:txBody>
          <a:bodyPr wrap="square" lIns="0" tIns="0" rIns="0" bIns="0" rtlCol="0" anchor="t"/>
          <a:lstStyle/>
          <a:p>
            <a:pPr algn="ctr" indent="0" marL="0">
              <a:lnSpc>
                <a:spcPct val="95000"/>
              </a:lnSpc>
              <a:buNone/>
            </a:pPr>
            <a:r>
              <a:rPr lang="en-US" sz="1250" dirty="0">
                <a:solidFill>
                  <a:srgbClr val="22303F"/>
                </a:solidFill>
                <a:latin typeface="Calibri" pitchFamily="34" charset="0"/>
                <a:ea typeface="Calibri" pitchFamily="34" charset="-122"/>
                <a:cs typeface="Calibri" pitchFamily="34" charset="-120"/>
              </a:rPr>
              <a:t>Run</a:t>
            </a:r>
            <a:endParaRPr lang="en-US" sz="1250" dirty="0"/>
          </a:p>
        </p:txBody>
      </p:sp>
      <p:sp>
        <p:nvSpPr>
          <p:cNvPr id="23" name="Shape 21"/>
          <p:cNvSpPr/>
          <p:nvPr/>
        </p:nvSpPr>
        <p:spPr>
          <a:xfrm>
            <a:off x="6847550" y="2066544"/>
            <a:ext cx="354003" cy="0"/>
          </a:xfrm>
          <a:prstGeom prst="line">
            <a:avLst/>
          </a:prstGeom>
          <a:noFill/>
          <a:ln w="25400">
            <a:solidFill>
              <a:srgbClr val="D7DCE2"/>
            </a:solidFill>
            <a:prstDash val="solid"/>
          </a:ln>
        </p:spPr>
      </p:sp>
      <p:sp>
        <p:nvSpPr>
          <p:cNvPr id="24" name="Shape 22"/>
          <p:cNvSpPr/>
          <p:nvPr/>
        </p:nvSpPr>
        <p:spPr>
          <a:xfrm>
            <a:off x="7713617" y="1783080"/>
            <a:ext cx="566928" cy="566928"/>
          </a:xfrm>
          <a:prstGeom prst="ellipse">
            <a:avLst/>
          </a:prstGeom>
          <a:solidFill>
            <a:srgbClr val="1F3A5F"/>
          </a:solidFill>
          <a:ln/>
        </p:spPr>
      </p:sp>
      <p:sp>
        <p:nvSpPr>
          <p:cNvPr id="25" name="Text 23"/>
          <p:cNvSpPr/>
          <p:nvPr/>
        </p:nvSpPr>
        <p:spPr>
          <a:xfrm>
            <a:off x="7713617"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6</a:t>
            </a:r>
            <a:endParaRPr lang="en-US" sz="1900" dirty="0"/>
          </a:p>
        </p:txBody>
      </p:sp>
      <p:sp>
        <p:nvSpPr>
          <p:cNvPr id="26" name="Text 24"/>
          <p:cNvSpPr/>
          <p:nvPr/>
        </p:nvSpPr>
        <p:spPr>
          <a:xfrm>
            <a:off x="7457585" y="2386584"/>
            <a:ext cx="1078992" cy="502920"/>
          </a:xfrm>
          <a:prstGeom prst="rect">
            <a:avLst/>
          </a:prstGeom>
          <a:noFill/>
          <a:ln/>
        </p:spPr>
        <p:txBody>
          <a:bodyPr wrap="square" lIns="0" tIns="0" rIns="0" bIns="0" rtlCol="0" anchor="t"/>
          <a:lstStyle/>
          <a:p>
            <a:pPr algn="ctr" indent="0" marL="0">
              <a:lnSpc>
                <a:spcPct val="95000"/>
              </a:lnSpc>
              <a:buNone/>
            </a:pPr>
            <a:r>
              <a:rPr lang="en-US" sz="1250" dirty="0">
                <a:solidFill>
                  <a:srgbClr val="22303F"/>
                </a:solidFill>
                <a:latin typeface="Calibri" pitchFamily="34" charset="0"/>
                <a:ea typeface="Calibri" pitchFamily="34" charset="-122"/>
                <a:cs typeface="Calibri" pitchFamily="34" charset="-120"/>
              </a:rPr>
              <a:t>Parse</a:t>
            </a:r>
            <a:endParaRPr lang="en-US" sz="1250" dirty="0"/>
          </a:p>
        </p:txBody>
      </p:sp>
      <p:sp>
        <p:nvSpPr>
          <p:cNvPr id="27" name="Shape 25"/>
          <p:cNvSpPr/>
          <p:nvPr/>
        </p:nvSpPr>
        <p:spPr>
          <a:xfrm>
            <a:off x="8280545" y="2066544"/>
            <a:ext cx="354003" cy="0"/>
          </a:xfrm>
          <a:prstGeom prst="line">
            <a:avLst/>
          </a:prstGeom>
          <a:noFill/>
          <a:ln w="25400">
            <a:solidFill>
              <a:srgbClr val="D7DCE2"/>
            </a:solidFill>
            <a:prstDash val="solid"/>
          </a:ln>
        </p:spPr>
      </p:sp>
      <p:sp>
        <p:nvSpPr>
          <p:cNvPr id="28" name="Shape 26"/>
          <p:cNvSpPr/>
          <p:nvPr/>
        </p:nvSpPr>
        <p:spPr>
          <a:xfrm>
            <a:off x="9146613" y="1783080"/>
            <a:ext cx="566928" cy="566928"/>
          </a:xfrm>
          <a:prstGeom prst="ellipse">
            <a:avLst/>
          </a:prstGeom>
          <a:solidFill>
            <a:srgbClr val="E9A23B"/>
          </a:solidFill>
          <a:ln/>
        </p:spPr>
      </p:sp>
      <p:sp>
        <p:nvSpPr>
          <p:cNvPr id="29" name="Text 27"/>
          <p:cNvSpPr/>
          <p:nvPr/>
        </p:nvSpPr>
        <p:spPr>
          <a:xfrm>
            <a:off x="9146613"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7</a:t>
            </a:r>
            <a:endParaRPr lang="en-US" sz="1900" dirty="0"/>
          </a:p>
        </p:txBody>
      </p:sp>
      <p:sp>
        <p:nvSpPr>
          <p:cNvPr id="30" name="Text 28"/>
          <p:cNvSpPr/>
          <p:nvPr/>
        </p:nvSpPr>
        <p:spPr>
          <a:xfrm>
            <a:off x="8890581" y="2386584"/>
            <a:ext cx="1078992" cy="502920"/>
          </a:xfrm>
          <a:prstGeom prst="rect">
            <a:avLst/>
          </a:prstGeom>
          <a:noFill/>
          <a:ln/>
        </p:spPr>
        <p:txBody>
          <a:bodyPr wrap="square" lIns="0" tIns="0" rIns="0" bIns="0" rtlCol="0" anchor="t"/>
          <a:lstStyle/>
          <a:p>
            <a:pPr algn="ctr" indent="0" marL="0">
              <a:lnSpc>
                <a:spcPct val="95000"/>
              </a:lnSpc>
              <a:buNone/>
            </a:pPr>
            <a:r>
              <a:rPr lang="en-US" sz="1250" b="1" dirty="0">
                <a:solidFill>
                  <a:srgbClr val="9A6B14"/>
                </a:solidFill>
                <a:latin typeface="Calibri" pitchFamily="34" charset="0"/>
                <a:ea typeface="Calibri" pitchFamily="34" charset="-122"/>
                <a:cs typeface="Calibri" pitchFamily="34" charset="-120"/>
              </a:rPr>
              <a:t>Logic-gate</a:t>
            </a:r>
            <a:endParaRPr lang="en-US" sz="1250" dirty="0"/>
          </a:p>
        </p:txBody>
      </p:sp>
      <p:sp>
        <p:nvSpPr>
          <p:cNvPr id="31" name="Shape 29"/>
          <p:cNvSpPr/>
          <p:nvPr/>
        </p:nvSpPr>
        <p:spPr>
          <a:xfrm>
            <a:off x="9713541" y="2066544"/>
            <a:ext cx="354003" cy="0"/>
          </a:xfrm>
          <a:prstGeom prst="line">
            <a:avLst/>
          </a:prstGeom>
          <a:noFill/>
          <a:ln w="25400">
            <a:solidFill>
              <a:srgbClr val="D7DCE2"/>
            </a:solidFill>
            <a:prstDash val="solid"/>
          </a:ln>
        </p:spPr>
      </p:sp>
      <p:sp>
        <p:nvSpPr>
          <p:cNvPr id="32" name="Shape 30"/>
          <p:cNvSpPr/>
          <p:nvPr/>
        </p:nvSpPr>
        <p:spPr>
          <a:xfrm>
            <a:off x="10579608" y="1783080"/>
            <a:ext cx="566928" cy="566928"/>
          </a:xfrm>
          <a:prstGeom prst="ellipse">
            <a:avLst/>
          </a:prstGeom>
          <a:solidFill>
            <a:srgbClr val="1F3A5F"/>
          </a:solidFill>
          <a:ln/>
        </p:spPr>
      </p:sp>
      <p:sp>
        <p:nvSpPr>
          <p:cNvPr id="33" name="Text 31"/>
          <p:cNvSpPr/>
          <p:nvPr/>
        </p:nvSpPr>
        <p:spPr>
          <a:xfrm>
            <a:off x="10579608" y="1783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Georgia" pitchFamily="34" charset="0"/>
                <a:ea typeface="Georgia" pitchFamily="34" charset="-122"/>
                <a:cs typeface="Georgia" pitchFamily="34" charset="-120"/>
              </a:rPr>
              <a:t>8</a:t>
            </a:r>
            <a:endParaRPr lang="en-US" sz="1900" dirty="0"/>
          </a:p>
        </p:txBody>
      </p:sp>
      <p:sp>
        <p:nvSpPr>
          <p:cNvPr id="34" name="Text 32"/>
          <p:cNvSpPr/>
          <p:nvPr/>
        </p:nvSpPr>
        <p:spPr>
          <a:xfrm>
            <a:off x="10323576" y="2386584"/>
            <a:ext cx="1078992" cy="502920"/>
          </a:xfrm>
          <a:prstGeom prst="rect">
            <a:avLst/>
          </a:prstGeom>
          <a:noFill/>
          <a:ln/>
        </p:spPr>
        <p:txBody>
          <a:bodyPr wrap="square" lIns="0" tIns="0" rIns="0" bIns="0" rtlCol="0" anchor="t"/>
          <a:lstStyle/>
          <a:p>
            <a:pPr algn="ctr" indent="0" marL="0">
              <a:lnSpc>
                <a:spcPct val="95000"/>
              </a:lnSpc>
              <a:buNone/>
            </a:pPr>
            <a:r>
              <a:rPr lang="en-US" sz="1250" dirty="0">
                <a:solidFill>
                  <a:srgbClr val="22303F"/>
                </a:solidFill>
                <a:latin typeface="Calibri" pitchFamily="34" charset="0"/>
                <a:ea typeface="Calibri" pitchFamily="34" charset="-122"/>
                <a:cs typeface="Calibri" pitchFamily="34" charset="-120"/>
              </a:rPr>
              <a:t>Log</a:t>
            </a:r>
            <a:endParaRPr lang="en-US" sz="1250" dirty="0"/>
          </a:p>
        </p:txBody>
      </p:sp>
      <p:sp>
        <p:nvSpPr>
          <p:cNvPr id="35" name="Shape 33"/>
          <p:cNvSpPr/>
          <p:nvPr/>
        </p:nvSpPr>
        <p:spPr>
          <a:xfrm>
            <a:off x="548640" y="3200400"/>
            <a:ext cx="5806440" cy="3063240"/>
          </a:xfrm>
          <a:prstGeom prst="rect">
            <a:avLst/>
          </a:prstGeom>
          <a:solidFill>
            <a:srgbClr val="F4F6F8"/>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36" name="Text 34"/>
          <p:cNvSpPr/>
          <p:nvPr/>
        </p:nvSpPr>
        <p:spPr>
          <a:xfrm>
            <a:off x="777240" y="3383280"/>
            <a:ext cx="5394960" cy="292608"/>
          </a:xfrm>
          <a:prstGeom prst="rect">
            <a:avLst/>
          </a:prstGeom>
          <a:noFill/>
          <a:ln/>
        </p:spPr>
        <p:txBody>
          <a:bodyPr wrap="square" lIns="0" tIns="0" rIns="0" bIns="0" rtlCol="0" anchor="ctr"/>
          <a:lstStyle/>
          <a:p>
            <a:pPr indent="0" marL="0">
              <a:buNone/>
            </a:pPr>
            <a:r>
              <a:rPr lang="en-US" sz="1350" b="1" spc="100" kern="0" dirty="0">
                <a:solidFill>
                  <a:srgbClr val="1F3A5F"/>
                </a:solidFill>
                <a:latin typeface="Calibri" pitchFamily="34" charset="0"/>
                <a:ea typeface="Calibri" pitchFamily="34" charset="-122"/>
                <a:cs typeface="Calibri" pitchFamily="34" charset="-120"/>
              </a:rPr>
              <a:t>MULTI-METRIC LOGIC GATE</a:t>
            </a:r>
            <a:endParaRPr lang="en-US" sz="1350" dirty="0"/>
          </a:p>
        </p:txBody>
      </p:sp>
      <p:sp>
        <p:nvSpPr>
          <p:cNvPr id="37" name="Shape 35"/>
          <p:cNvSpPr/>
          <p:nvPr/>
        </p:nvSpPr>
        <p:spPr>
          <a:xfrm>
            <a:off x="777240" y="3767328"/>
            <a:ext cx="146304" cy="676656"/>
          </a:xfrm>
          <a:prstGeom prst="rect">
            <a:avLst/>
          </a:prstGeom>
          <a:solidFill>
            <a:srgbClr val="2A9D8F"/>
          </a:solidFill>
          <a:ln/>
        </p:spPr>
      </p:sp>
      <p:sp>
        <p:nvSpPr>
          <p:cNvPr id="38" name="Text 36"/>
          <p:cNvSpPr/>
          <p:nvPr/>
        </p:nvSpPr>
        <p:spPr>
          <a:xfrm>
            <a:off x="1024128" y="3767328"/>
            <a:ext cx="5212080" cy="274320"/>
          </a:xfrm>
          <a:prstGeom prst="rect">
            <a:avLst/>
          </a:prstGeom>
          <a:noFill/>
          <a:ln/>
        </p:spPr>
        <p:txBody>
          <a:bodyPr wrap="square" lIns="0" tIns="0" rIns="0" bIns="0" rtlCol="0" anchor="ctr"/>
          <a:lstStyle/>
          <a:p>
            <a:pPr indent="0" marL="0">
              <a:buNone/>
            </a:pPr>
            <a:r>
              <a:rPr lang="en-US" sz="1400" b="1" dirty="0">
                <a:solidFill>
                  <a:srgbClr val="2A9D8F"/>
                </a:solidFill>
                <a:latin typeface="Calibri" pitchFamily="34" charset="0"/>
                <a:ea typeface="Calibri" pitchFamily="34" charset="-122"/>
                <a:cs typeface="Calibri" pitchFamily="34" charset="-120"/>
              </a:rPr>
              <a:t>KEEP</a:t>
            </a:r>
            <a:endParaRPr lang="en-US" sz="1400" dirty="0"/>
          </a:p>
        </p:txBody>
      </p:sp>
      <p:sp>
        <p:nvSpPr>
          <p:cNvPr id="39" name="Text 37"/>
          <p:cNvSpPr/>
          <p:nvPr/>
        </p:nvSpPr>
        <p:spPr>
          <a:xfrm>
            <a:off x="1024128" y="4050792"/>
            <a:ext cx="5166360" cy="384048"/>
          </a:xfrm>
          <a:prstGeom prst="rect">
            <a:avLst/>
          </a:prstGeom>
          <a:noFill/>
          <a:ln/>
        </p:spPr>
        <p:txBody>
          <a:bodyPr wrap="square" lIns="0" tIns="0" rIns="0" bIns="0" rtlCol="0" anchor="t"/>
          <a:lstStyle/>
          <a:p>
            <a:pPr indent="0" marL="0">
              <a:lnSpc>
                <a:spcPct val="97000"/>
              </a:lnSpc>
              <a:buNone/>
            </a:pPr>
            <a:r>
              <a:rPr lang="en-US" sz="1250" dirty="0">
                <a:solidFill>
                  <a:srgbClr val="22303F"/>
                </a:solidFill>
                <a:latin typeface="Calibri" pitchFamily="34" charset="0"/>
                <a:ea typeface="Calibri" pitchFamily="34" charset="-122"/>
                <a:cs typeface="Calibri" pitchFamily="34" charset="-120"/>
              </a:rPr>
              <a:t>test_rmse &lt; best  AND  MAE didn’t rise &gt; 0.3 mph</a:t>
            </a:r>
            <a:endParaRPr lang="en-US" sz="1250" dirty="0"/>
          </a:p>
        </p:txBody>
      </p:sp>
      <p:sp>
        <p:nvSpPr>
          <p:cNvPr id="40" name="Shape 38"/>
          <p:cNvSpPr/>
          <p:nvPr/>
        </p:nvSpPr>
        <p:spPr>
          <a:xfrm>
            <a:off x="777240" y="4553712"/>
            <a:ext cx="146304" cy="676656"/>
          </a:xfrm>
          <a:prstGeom prst="rect">
            <a:avLst/>
          </a:prstGeom>
          <a:solidFill>
            <a:srgbClr val="C44536"/>
          </a:solidFill>
          <a:ln/>
        </p:spPr>
      </p:sp>
      <p:sp>
        <p:nvSpPr>
          <p:cNvPr id="41" name="Text 39"/>
          <p:cNvSpPr/>
          <p:nvPr/>
        </p:nvSpPr>
        <p:spPr>
          <a:xfrm>
            <a:off x="1024128" y="4553712"/>
            <a:ext cx="5212080" cy="274320"/>
          </a:xfrm>
          <a:prstGeom prst="rect">
            <a:avLst/>
          </a:prstGeom>
          <a:noFill/>
          <a:ln/>
        </p:spPr>
        <p:txBody>
          <a:bodyPr wrap="square" lIns="0" tIns="0" rIns="0" bIns="0" rtlCol="0" anchor="ctr"/>
          <a:lstStyle/>
          <a:p>
            <a:pPr indent="0" marL="0">
              <a:buNone/>
            </a:pPr>
            <a:r>
              <a:rPr lang="en-US" sz="1400" b="1" dirty="0">
                <a:solidFill>
                  <a:srgbClr val="C44536"/>
                </a:solidFill>
                <a:latin typeface="Calibri" pitchFamily="34" charset="0"/>
                <a:ea typeface="Calibri" pitchFamily="34" charset="-122"/>
                <a:cs typeface="Calibri" pitchFamily="34" charset="-120"/>
              </a:rPr>
              <a:t>DISCARD</a:t>
            </a:r>
            <a:endParaRPr lang="en-US" sz="1400" dirty="0"/>
          </a:p>
        </p:txBody>
      </p:sp>
      <p:sp>
        <p:nvSpPr>
          <p:cNvPr id="42" name="Text 40"/>
          <p:cNvSpPr/>
          <p:nvPr/>
        </p:nvSpPr>
        <p:spPr>
          <a:xfrm>
            <a:off x="1024128" y="4837176"/>
            <a:ext cx="5166360" cy="384048"/>
          </a:xfrm>
          <a:prstGeom prst="rect">
            <a:avLst/>
          </a:prstGeom>
          <a:noFill/>
          <a:ln/>
        </p:spPr>
        <p:txBody>
          <a:bodyPr wrap="square" lIns="0" tIns="0" rIns="0" bIns="0" rtlCol="0" anchor="t"/>
          <a:lstStyle/>
          <a:p>
            <a:pPr indent="0" marL="0">
              <a:lnSpc>
                <a:spcPct val="97000"/>
              </a:lnSpc>
              <a:buNone/>
            </a:pPr>
            <a:r>
              <a:rPr lang="en-US" sz="1250" dirty="0">
                <a:solidFill>
                  <a:srgbClr val="22303F"/>
                </a:solidFill>
                <a:latin typeface="Calibri" pitchFamily="34" charset="0"/>
                <a:ea typeface="Calibri" pitchFamily="34" charset="-122"/>
                <a:cs typeface="Calibri" pitchFamily="34" charset="-120"/>
              </a:rPr>
              <a:t>otherwise  →  git reset --hard HEAD~1</a:t>
            </a:r>
            <a:endParaRPr lang="en-US" sz="1250" dirty="0"/>
          </a:p>
        </p:txBody>
      </p:sp>
      <p:sp>
        <p:nvSpPr>
          <p:cNvPr id="43" name="Shape 41"/>
          <p:cNvSpPr/>
          <p:nvPr/>
        </p:nvSpPr>
        <p:spPr>
          <a:xfrm>
            <a:off x="777240" y="5340096"/>
            <a:ext cx="146304" cy="676656"/>
          </a:xfrm>
          <a:prstGeom prst="rect">
            <a:avLst/>
          </a:prstGeom>
          <a:solidFill>
            <a:srgbClr val="E9A23B"/>
          </a:solidFill>
          <a:ln/>
        </p:spPr>
      </p:sp>
      <p:sp>
        <p:nvSpPr>
          <p:cNvPr id="44" name="Text 42"/>
          <p:cNvSpPr/>
          <p:nvPr/>
        </p:nvSpPr>
        <p:spPr>
          <a:xfrm>
            <a:off x="1024128" y="5340096"/>
            <a:ext cx="5212080" cy="274320"/>
          </a:xfrm>
          <a:prstGeom prst="rect">
            <a:avLst/>
          </a:prstGeom>
          <a:noFill/>
          <a:ln/>
        </p:spPr>
        <p:txBody>
          <a:bodyPr wrap="square" lIns="0" tIns="0" rIns="0" bIns="0" rtlCol="0" anchor="ctr"/>
          <a:lstStyle/>
          <a:p>
            <a:pPr indent="0" marL="0">
              <a:buNone/>
            </a:pPr>
            <a:r>
              <a:rPr lang="en-US" sz="1400" b="1" dirty="0">
                <a:solidFill>
                  <a:srgbClr val="E9A23B"/>
                </a:solidFill>
                <a:latin typeface="Calibri" pitchFamily="34" charset="0"/>
                <a:ea typeface="Calibri" pitchFamily="34" charset="-122"/>
                <a:cs typeface="Calibri" pitchFamily="34" charset="-120"/>
              </a:rPr>
              <a:t>KEEP-MARGINAL</a:t>
            </a:r>
            <a:endParaRPr lang="en-US" sz="1400" dirty="0"/>
          </a:p>
        </p:txBody>
      </p:sp>
      <p:sp>
        <p:nvSpPr>
          <p:cNvPr id="45" name="Text 43"/>
          <p:cNvSpPr/>
          <p:nvPr/>
        </p:nvSpPr>
        <p:spPr>
          <a:xfrm>
            <a:off x="1024128" y="5623560"/>
            <a:ext cx="5166360" cy="384048"/>
          </a:xfrm>
          <a:prstGeom prst="rect">
            <a:avLst/>
          </a:prstGeom>
          <a:noFill/>
          <a:ln/>
        </p:spPr>
        <p:txBody>
          <a:bodyPr wrap="square" lIns="0" tIns="0" rIns="0" bIns="0" rtlCol="0" anchor="t"/>
          <a:lstStyle/>
          <a:p>
            <a:pPr indent="0" marL="0">
              <a:lnSpc>
                <a:spcPct val="97000"/>
              </a:lnSpc>
              <a:buNone/>
            </a:pPr>
            <a:r>
              <a:rPr lang="en-US" sz="1250" dirty="0">
                <a:solidFill>
                  <a:srgbClr val="22303F"/>
                </a:solidFill>
                <a:latin typeface="Calibri" pitchFamily="34" charset="0"/>
                <a:ea typeface="Calibri" pitchFamily="34" charset="-122"/>
                <a:cs typeface="Calibri" pitchFamily="34" charset="-120"/>
              </a:rPr>
              <a:t>ΔRMSE &lt; 0.1 AND runtime &gt; 1.5× best  (flagged, not promoted)</a:t>
            </a:r>
            <a:endParaRPr lang="en-US" sz="1250" dirty="0"/>
          </a:p>
        </p:txBody>
      </p:sp>
      <p:sp>
        <p:nvSpPr>
          <p:cNvPr id="46" name="Shape 44"/>
          <p:cNvSpPr/>
          <p:nvPr/>
        </p:nvSpPr>
        <p:spPr>
          <a:xfrm>
            <a:off x="6629400" y="3200400"/>
            <a:ext cx="5029200" cy="3063240"/>
          </a:xfrm>
          <a:prstGeom prst="rect">
            <a:avLst/>
          </a:prstGeom>
          <a:solidFill>
            <a:srgbClr val="F2F6FB"/>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47" name="Text 45"/>
          <p:cNvSpPr/>
          <p:nvPr/>
        </p:nvSpPr>
        <p:spPr>
          <a:xfrm>
            <a:off x="6858000" y="3383280"/>
            <a:ext cx="4572000" cy="292608"/>
          </a:xfrm>
          <a:prstGeom prst="rect">
            <a:avLst/>
          </a:prstGeom>
          <a:noFill/>
          <a:ln/>
        </p:spPr>
        <p:txBody>
          <a:bodyPr wrap="square" lIns="0" tIns="0" rIns="0" bIns="0" rtlCol="0" anchor="ctr"/>
          <a:lstStyle/>
          <a:p>
            <a:pPr indent="0" marL="0">
              <a:buNone/>
            </a:pPr>
            <a:r>
              <a:rPr lang="en-US" sz="1350" b="1" spc="100" kern="0" dirty="0">
                <a:solidFill>
                  <a:srgbClr val="1F3A5F"/>
                </a:solidFill>
                <a:latin typeface="Calibri" pitchFamily="34" charset="0"/>
                <a:ea typeface="Calibri" pitchFamily="34" charset="-122"/>
                <a:cs typeface="Calibri" pitchFamily="34" charset="-120"/>
              </a:rPr>
              <a:t>TIER SYSTEM  (order is enforced)</a:t>
            </a:r>
            <a:endParaRPr lang="en-US" sz="1350" dirty="0"/>
          </a:p>
        </p:txBody>
      </p:sp>
      <p:sp>
        <p:nvSpPr>
          <p:cNvPr id="48" name="Text 46"/>
          <p:cNvSpPr/>
          <p:nvPr/>
        </p:nvSpPr>
        <p:spPr>
          <a:xfrm>
            <a:off x="6858000" y="3767328"/>
            <a:ext cx="1005840" cy="548640"/>
          </a:xfrm>
          <a:prstGeom prst="rect">
            <a:avLst/>
          </a:prstGeom>
          <a:noFill/>
          <a:ln/>
        </p:spPr>
        <p:txBody>
          <a:bodyPr wrap="square" lIns="0" tIns="0" rIns="0" bIns="0" rtlCol="0" anchor="t"/>
          <a:lstStyle/>
          <a:p>
            <a:pPr indent="0" marL="0">
              <a:buNone/>
            </a:pPr>
            <a:r>
              <a:rPr lang="en-US" sz="1350" b="1" dirty="0">
                <a:solidFill>
                  <a:srgbClr val="2A9D8F"/>
                </a:solidFill>
                <a:latin typeface="Calibri" pitchFamily="34" charset="0"/>
                <a:ea typeface="Calibri" pitchFamily="34" charset="-122"/>
                <a:cs typeface="Calibri" pitchFamily="34" charset="-120"/>
              </a:rPr>
              <a:t>Tier 1</a:t>
            </a:r>
            <a:endParaRPr lang="en-US" sz="1350" dirty="0"/>
          </a:p>
        </p:txBody>
      </p:sp>
      <p:sp>
        <p:nvSpPr>
          <p:cNvPr id="49" name="Text 47"/>
          <p:cNvSpPr/>
          <p:nvPr/>
        </p:nvSpPr>
        <p:spPr>
          <a:xfrm>
            <a:off x="7818120" y="3767328"/>
            <a:ext cx="3611880" cy="685800"/>
          </a:xfrm>
          <a:prstGeom prst="rect">
            <a:avLst/>
          </a:prstGeom>
          <a:noFill/>
          <a:ln/>
        </p:spPr>
        <p:txBody>
          <a:bodyPr wrap="square" lIns="0" tIns="0" rIns="0" bIns="0" rtlCol="0" anchor="t"/>
          <a:lstStyle/>
          <a:p>
            <a:pPr indent="0" marL="0">
              <a:lnSpc>
                <a:spcPct val="98000"/>
              </a:lnSpc>
              <a:buNone/>
            </a:pPr>
            <a:r>
              <a:rPr lang="en-US" sz="1200" dirty="0">
                <a:solidFill>
                  <a:srgbClr val="22303F"/>
                </a:solidFill>
                <a:latin typeface="Calibri" pitchFamily="34" charset="0"/>
                <a:ea typeface="Calibri" pitchFamily="34" charset="-122"/>
                <a:cs typeface="Calibri" pitchFamily="34" charset="-120"/>
              </a:rPr>
              <a:t>Methodological controls — ablations &amp; multi-seed reruns. Always committed, never reset. These are measurements.</a:t>
            </a:r>
            <a:endParaRPr lang="en-US" sz="1200" dirty="0"/>
          </a:p>
        </p:txBody>
      </p:sp>
      <p:sp>
        <p:nvSpPr>
          <p:cNvPr id="50" name="Text 48"/>
          <p:cNvSpPr/>
          <p:nvPr/>
        </p:nvSpPr>
        <p:spPr>
          <a:xfrm>
            <a:off x="6858000" y="4480560"/>
            <a:ext cx="1005840" cy="548640"/>
          </a:xfrm>
          <a:prstGeom prst="rect">
            <a:avLst/>
          </a:prstGeom>
          <a:noFill/>
          <a:ln/>
        </p:spPr>
        <p:txBody>
          <a:bodyPr wrap="square" lIns="0" tIns="0" rIns="0" bIns="0" rtlCol="0" anchor="t"/>
          <a:lstStyle/>
          <a:p>
            <a:pPr indent="0" marL="0">
              <a:buNone/>
            </a:pPr>
            <a:r>
              <a:rPr lang="en-US" sz="1350" b="1" dirty="0">
                <a:solidFill>
                  <a:srgbClr val="2A9D8F"/>
                </a:solidFill>
                <a:latin typeface="Calibri" pitchFamily="34" charset="0"/>
                <a:ea typeface="Calibri" pitchFamily="34" charset="-122"/>
                <a:cs typeface="Calibri" pitchFamily="34" charset="-120"/>
              </a:rPr>
              <a:t>Tier 2</a:t>
            </a:r>
            <a:endParaRPr lang="en-US" sz="1350" dirty="0"/>
          </a:p>
        </p:txBody>
      </p:sp>
      <p:sp>
        <p:nvSpPr>
          <p:cNvPr id="51" name="Text 49"/>
          <p:cNvSpPr/>
          <p:nvPr/>
        </p:nvSpPr>
        <p:spPr>
          <a:xfrm>
            <a:off x="7818120" y="4480560"/>
            <a:ext cx="3611880" cy="685800"/>
          </a:xfrm>
          <a:prstGeom prst="rect">
            <a:avLst/>
          </a:prstGeom>
          <a:noFill/>
          <a:ln/>
        </p:spPr>
        <p:txBody>
          <a:bodyPr wrap="square" lIns="0" tIns="0" rIns="0" bIns="0" rtlCol="0" anchor="t"/>
          <a:lstStyle/>
          <a:p>
            <a:pPr indent="0" marL="0">
              <a:lnSpc>
                <a:spcPct val="98000"/>
              </a:lnSpc>
              <a:buNone/>
            </a:pPr>
            <a:r>
              <a:rPr lang="en-US" sz="1200" dirty="0">
                <a:solidFill>
                  <a:srgbClr val="22303F"/>
                </a:solidFill>
                <a:latin typeface="Calibri" pitchFamily="34" charset="0"/>
                <a:ea typeface="Calibri" pitchFamily="34" charset="-122"/>
                <a:cs typeface="Calibri" pitchFamily="34" charset="-120"/>
              </a:rPr>
              <a:t>Structural changes — new operators / topologies. Subject to the multi-metric gate.</a:t>
            </a:r>
            <a:endParaRPr lang="en-US" sz="1200" dirty="0"/>
          </a:p>
        </p:txBody>
      </p:sp>
      <p:sp>
        <p:nvSpPr>
          <p:cNvPr id="52" name="Text 50"/>
          <p:cNvSpPr/>
          <p:nvPr/>
        </p:nvSpPr>
        <p:spPr>
          <a:xfrm>
            <a:off x="6858000" y="5193792"/>
            <a:ext cx="1005840" cy="548640"/>
          </a:xfrm>
          <a:prstGeom prst="rect">
            <a:avLst/>
          </a:prstGeom>
          <a:noFill/>
          <a:ln/>
        </p:spPr>
        <p:txBody>
          <a:bodyPr wrap="square" lIns="0" tIns="0" rIns="0" bIns="0" rtlCol="0" anchor="t"/>
          <a:lstStyle/>
          <a:p>
            <a:pPr indent="0" marL="0">
              <a:buNone/>
            </a:pPr>
            <a:r>
              <a:rPr lang="en-US" sz="1350" b="1" dirty="0">
                <a:solidFill>
                  <a:srgbClr val="2A9D8F"/>
                </a:solidFill>
                <a:latin typeface="Calibri" pitchFamily="34" charset="0"/>
                <a:ea typeface="Calibri" pitchFamily="34" charset="-122"/>
                <a:cs typeface="Calibri" pitchFamily="34" charset="-120"/>
              </a:rPr>
              <a:t>Tier 3</a:t>
            </a:r>
            <a:endParaRPr lang="en-US" sz="1350" dirty="0"/>
          </a:p>
        </p:txBody>
      </p:sp>
      <p:sp>
        <p:nvSpPr>
          <p:cNvPr id="53" name="Text 51"/>
          <p:cNvSpPr/>
          <p:nvPr/>
        </p:nvSpPr>
        <p:spPr>
          <a:xfrm>
            <a:off x="7818120" y="5193792"/>
            <a:ext cx="3611880" cy="685800"/>
          </a:xfrm>
          <a:prstGeom prst="rect">
            <a:avLst/>
          </a:prstGeom>
          <a:noFill/>
          <a:ln/>
        </p:spPr>
        <p:txBody>
          <a:bodyPr wrap="square" lIns="0" tIns="0" rIns="0" bIns="0" rtlCol="0" anchor="t"/>
          <a:lstStyle/>
          <a:p>
            <a:pPr indent="0" marL="0">
              <a:lnSpc>
                <a:spcPct val="98000"/>
              </a:lnSpc>
              <a:buNone/>
            </a:pPr>
            <a:r>
              <a:rPr lang="en-US" sz="1200" dirty="0">
                <a:solidFill>
                  <a:srgbClr val="22303F"/>
                </a:solidFill>
                <a:latin typeface="Calibri" pitchFamily="34" charset="0"/>
                <a:ea typeface="Calibri" pitchFamily="34" charset="-122"/>
                <a:cs typeface="Calibri" pitchFamily="34" charset="-120"/>
              </a:rPr>
              <a:t>Revisits of prior discards under new substrate. Require written justification.</a:t>
            </a:r>
            <a:endParaRPr lang="en-US" sz="1200" dirty="0"/>
          </a:p>
        </p:txBody>
      </p:sp>
      <p:sp>
        <p:nvSpPr>
          <p:cNvPr id="54" name="Shape 52"/>
          <p:cNvSpPr/>
          <p:nvPr/>
        </p:nvSpPr>
        <p:spPr>
          <a:xfrm>
            <a:off x="6858000" y="5696712"/>
            <a:ext cx="4572000" cy="420624"/>
          </a:xfrm>
          <a:prstGeom prst="rect">
            <a:avLst/>
          </a:prstGeom>
          <a:solidFill>
            <a:srgbClr val="1F3A5F"/>
          </a:solidFill>
          <a:ln/>
        </p:spPr>
      </p:sp>
      <p:sp>
        <p:nvSpPr>
          <p:cNvPr id="55" name="Text 53"/>
          <p:cNvSpPr/>
          <p:nvPr/>
        </p:nvSpPr>
        <p:spPr>
          <a:xfrm>
            <a:off x="6858000" y="5696712"/>
            <a:ext cx="45720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Hard rule: no Tier 2/3 runs while a Tier 1 deliverable is still open.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EXPERIMENT TRACE</a:t>
            </a:r>
            <a:endParaRPr lang="en-US" sz="125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One step-function win; everything after is decimal noise</a:t>
            </a:r>
            <a:endParaRPr lang="en-US" sz="2700" dirty="0"/>
          </a:p>
        </p:txBody>
      </p:sp>
      <p:pic>
        <p:nvPicPr>
          <p:cNvPr id="4" name="Image 0" descr="/sessions/funny-amazing-davinci/mnt/outputs/chart_rmse_by_iter.png">    </p:cNvPr>
          <p:cNvPicPr>
            <a:picLocks noChangeAspect="1"/>
          </p:cNvPicPr>
          <p:nvPr/>
        </p:nvPicPr>
        <p:blipFill>
          <a:blip r:embed="rId1"/>
          <a:stretch>
            <a:fillRect/>
          </a:stretch>
        </p:blipFill>
        <p:spPr>
          <a:xfrm>
            <a:off x="457200" y="1508760"/>
            <a:ext cx="7360920" cy="416052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092440" y="1600200"/>
          <a:ext cx="3657600" cy="914400"/>
        </p:xfrm>
        <a:graphic>
          <a:graphicData uri="http://schemas.openxmlformats.org/drawingml/2006/table">
            <a:tbl>
              <a:tblPr/>
              <a:tblGrid>
                <a:gridCol w="502920"/>
                <a:gridCol w="2331720"/>
                <a:gridCol w="822960"/>
              </a:tblGrid>
              <a:tr h="310896">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Iter</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1F3A5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Change</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1F3A5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1F3A5F"/>
                    </a:solidFill>
                  </a:tcPr>
                </a:tc>
              </a:tr>
              <a:tr h="384048">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Broken broadcast arch</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18.76</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Per-node LSTM + GCN skip</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12.08</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Correlation adjacency</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11.94</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10 epochs (best 3-seed)</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11.91</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Tier-1: no graph at all</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12.08</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ChebConv K=2 (marginal)</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11.87</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FFFFFF"/>
                    </a:solidFill>
                  </a:tcPr>
                </a:tc>
              </a:tr>
            </a:tbl>
          </a:graphicData>
        </a:graphic>
      </p:graphicFrame>
      <p:sp>
        <p:nvSpPr>
          <p:cNvPr id="6" name="Shape 2"/>
          <p:cNvSpPr/>
          <p:nvPr/>
        </p:nvSpPr>
        <p:spPr>
          <a:xfrm>
            <a:off x="8092440" y="4526280"/>
            <a:ext cx="3657600" cy="1188720"/>
          </a:xfrm>
          <a:prstGeom prst="rect">
            <a:avLst/>
          </a:prstGeom>
          <a:solidFill>
            <a:srgbClr val="EAF4F2"/>
          </a:solidFill>
          <a:ln w="15240">
            <a:solidFill>
              <a:srgbClr val="2A9D8F"/>
            </a:solidFill>
            <a:prstDash val="solid"/>
          </a:ln>
        </p:spPr>
      </p:sp>
      <p:sp>
        <p:nvSpPr>
          <p:cNvPr id="7" name="Shape 3"/>
          <p:cNvSpPr/>
          <p:nvPr/>
        </p:nvSpPr>
        <p:spPr>
          <a:xfrm>
            <a:off x="8092440" y="4526280"/>
            <a:ext cx="91440" cy="1188720"/>
          </a:xfrm>
          <a:prstGeom prst="rect">
            <a:avLst/>
          </a:prstGeom>
          <a:solidFill>
            <a:srgbClr val="2A9D8F"/>
          </a:solidFill>
          <a:ln/>
        </p:spPr>
      </p:sp>
      <p:sp>
        <p:nvSpPr>
          <p:cNvPr id="8" name="Text 4"/>
          <p:cNvSpPr/>
          <p:nvPr/>
        </p:nvSpPr>
        <p:spPr>
          <a:xfrm>
            <a:off x="8348472" y="4526280"/>
            <a:ext cx="3246120" cy="1188720"/>
          </a:xfrm>
          <a:prstGeom prst="rect">
            <a:avLst/>
          </a:prstGeom>
          <a:noFill/>
          <a:ln/>
        </p:spPr>
        <p:txBody>
          <a:bodyPr wrap="square" rtlCol="0" anchor="ctr"/>
          <a:lstStyle/>
          <a:p>
            <a:pPr indent="0" marL="0">
              <a:lnSpc>
                <a:spcPct val="105000"/>
              </a:lnSpc>
              <a:buNone/>
            </a:pPr>
            <a:r>
              <a:rPr lang="en-US" sz="1400" b="1" dirty="0">
                <a:solidFill>
                  <a:srgbClr val="2A9D8F"/>
                </a:solidFill>
                <a:latin typeface="Calibri" pitchFamily="34" charset="0"/>
                <a:ea typeface="Calibri" pitchFamily="34" charset="-122"/>
                <a:cs typeface="Calibri" pitchFamily="34" charset="-120"/>
              </a:rPr>
              <a:t>Iter 1 → 2:  </a:t>
            </a:r>
            <a:pPr indent="0" marL="0">
              <a:lnSpc>
                <a:spcPct val="105000"/>
              </a:lnSpc>
              <a:buNone/>
            </a:pPr>
            <a:r>
              <a:rPr lang="en-US" sz="1400" b="1" dirty="0">
                <a:solidFill>
                  <a:srgbClr val="22303F"/>
                </a:solidFill>
                <a:latin typeface="Calibri" pitchFamily="34" charset="0"/>
                <a:ea typeface="Calibri" pitchFamily="34" charset="-122"/>
                <a:cs typeface="Calibri" pitchFamily="34" charset="-120"/>
              </a:rPr>
              <a:t>−6.67 RMSE.</a:t>
            </a:r>
            <a:pPr indent="0" marL="0">
              <a:lnSpc>
                <a:spcPct val="105000"/>
              </a:lnSpc>
              <a:buNone/>
            </a:pPr>
            <a:r>
              <a:rPr lang="en-US" sz="1300" dirty="0">
                <a:solidFill>
                  <a:srgbClr val="22303F"/>
                </a:solidFill>
                <a:latin typeface="Calibri" pitchFamily="34" charset="0"/>
                <a:ea typeface="Calibri" pitchFamily="34" charset="-122"/>
                <a:cs typeface="Calibri" pitchFamily="34" charset="-120"/>
              </a:rPr>
              <a:t>  The single biggest jump in the project. Every other change moves RMSE by &lt; 0.2.</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FINAL RESULT &amp; STABILITY</a:t>
            </a:r>
            <a:endParaRPr lang="en-US" sz="125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94% of the gain is the encoder, not the graph</a:t>
            </a:r>
            <a:endParaRPr lang="en-US" sz="2700" dirty="0"/>
          </a:p>
        </p:txBody>
      </p:sp>
      <p:pic>
        <p:nvPicPr>
          <p:cNvPr id="4" name="Image 0" descr="/sessions/funny-amazing-davinci/mnt/outputs/chart_decomposition.png">    </p:cNvPr>
          <p:cNvPicPr>
            <a:picLocks noChangeAspect="1"/>
          </p:cNvPicPr>
          <p:nvPr/>
        </p:nvPicPr>
        <p:blipFill>
          <a:blip r:embed="rId1"/>
          <a:stretch>
            <a:fillRect/>
          </a:stretch>
        </p:blipFill>
        <p:spPr>
          <a:xfrm>
            <a:off x="411480" y="1554480"/>
            <a:ext cx="6720840" cy="3749040"/>
          </a:xfrm>
          <a:prstGeom prst="rect">
            <a:avLst/>
          </a:prstGeom>
        </p:spPr>
      </p:pic>
      <p:sp>
        <p:nvSpPr>
          <p:cNvPr id="5" name="Text 2"/>
          <p:cNvSpPr/>
          <p:nvPr/>
        </p:nvSpPr>
        <p:spPr>
          <a:xfrm>
            <a:off x="7360920" y="1554480"/>
            <a:ext cx="4389120" cy="274320"/>
          </a:xfrm>
          <a:prstGeom prst="rect">
            <a:avLst/>
          </a:prstGeom>
          <a:noFill/>
          <a:ln/>
        </p:spPr>
        <p:txBody>
          <a:bodyPr wrap="square" lIns="0" tIns="0" rIns="0" bIns="0" rtlCol="0" anchor="ctr"/>
          <a:lstStyle/>
          <a:p>
            <a:pPr indent="0" marL="0">
              <a:buNone/>
            </a:pPr>
            <a:r>
              <a:rPr lang="en-US" sz="1300" b="1" spc="50" kern="0" dirty="0">
                <a:solidFill>
                  <a:srgbClr val="1F3A5F"/>
                </a:solidFill>
                <a:latin typeface="Calibri" pitchFamily="34" charset="0"/>
                <a:ea typeface="Calibri" pitchFamily="34" charset="-122"/>
                <a:cs typeface="Calibri" pitchFamily="34" charset="-120"/>
              </a:rPr>
              <a:t>DECOMPOSITION, WITH ERROR BARS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60920" y="1874520"/>
          <a:ext cx="4389120" cy="914400"/>
        </p:xfrm>
        <a:graphic>
          <a:graphicData uri="http://schemas.openxmlformats.org/drawingml/2006/table">
            <a:tbl>
              <a:tblPr/>
              <a:tblGrid>
                <a:gridCol w="1783080"/>
                <a:gridCol w="868680"/>
                <a:gridCol w="1737360"/>
              </a:tblGrid>
              <a:tr h="31089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1F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Δ RMSE</a:t>
                      </a:r>
                      <a:endParaRPr lang="en-US" sz="110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1F3A5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solidFill>
                      <a:srgbClr val="1F3A5F"/>
                    </a:solidFill>
                  </a:tcPr>
                </a:tc>
              </a:tr>
              <a:tr h="365760">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Per-node encoder</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−2.92</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Real — 94%</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r>
              <a:tr h="365760">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Correlation graph</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−0.16</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Real, 8.6σ — 5%</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r>
              <a:tr h="365760">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Longer training</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Borderline p≈0.07</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r>
              <a:tr h="365760">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2nd GAT layer</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−0.02</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Unproven, 1-seed</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r>
              <a:tr h="365760">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Iter 8 MAE “win”</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c>
                  <a:txBody>
                    <a:bodyPr/>
                    <a:lstStyle/>
                    <a:p>
                      <a:pPr algn="l" indent="0" marL="0">
                        <a:buNone/>
                      </a:pPr>
                      <a:r>
                        <a:rPr lang="en-US" sz="1150" dirty="0">
                          <a:solidFill>
                            <a:srgbClr val="22303F"/>
                          </a:solidFill>
                          <a:latin typeface="Calibri" pitchFamily="34" charset="0"/>
                          <a:ea typeface="Calibri" pitchFamily="34" charset="-122"/>
                          <a:cs typeface="Calibri" pitchFamily="34" charset="-120"/>
                        </a:rPr>
                        <a:t>Refuted (noise)</a:t>
                      </a:r>
                      <a:endParaRPr lang="en-US" sz="1150" dirty="0">
                        <a:latin typeface="Calibri" charset="0"/>
                        <a:ea typeface="Calibri" charset="0"/>
                        <a:cs typeface="Calibri" charset="0"/>
                      </a:endParaRPr>
                    </a:p>
                  </a:txBody>
                  <a:tcPr marL="91440" marR="91440" marT="45720" marB="45720" anchor="ctr">
                    <a:lnL w="6350" cap="flat" cmpd="sng" algn="ctr">
                      <a:solidFill>
                        <a:srgbClr val="D7DCE2"/>
                      </a:solidFill>
                      <a:prstDash val="solid"/>
                      <a:round/>
                      <a:headEnd type="none" w="med" len="med"/>
                      <a:tailEnd type="none" w="med" len="med"/>
                    </a:lnL>
                    <a:lnR w="6350" cap="flat" cmpd="sng" algn="ctr">
                      <a:solidFill>
                        <a:srgbClr val="D7DCE2"/>
                      </a:solidFill>
                      <a:prstDash val="solid"/>
                      <a:round/>
                      <a:headEnd type="none" w="med" len="med"/>
                      <a:tailEnd type="none" w="med" len="med"/>
                    </a:lnR>
                    <a:lnT w="6350" cap="flat" cmpd="sng" algn="ctr">
                      <a:solidFill>
                        <a:srgbClr val="D7DCE2"/>
                      </a:solidFill>
                      <a:prstDash val="solid"/>
                      <a:round/>
                      <a:headEnd type="none" w="med" len="med"/>
                      <a:tailEnd type="none" w="med" len="med"/>
                    </a:lnT>
                    <a:lnB w="6350" cap="flat" cmpd="sng" algn="ctr">
                      <a:solidFill>
                        <a:srgbClr val="D7DCE2"/>
                      </a:solidFill>
                      <a:prstDash val="solid"/>
                      <a:round/>
                      <a:headEnd type="none" w="med" len="med"/>
                      <a:tailEnd type="none" w="med" len="med"/>
                    </a:lnB>
                  </a:tcPr>
                </a:tc>
              </a:tr>
            </a:tbl>
          </a:graphicData>
        </a:graphic>
      </p:graphicFrame>
      <p:sp>
        <p:nvSpPr>
          <p:cNvPr id="7" name="Shape 3"/>
          <p:cNvSpPr/>
          <p:nvPr/>
        </p:nvSpPr>
        <p:spPr>
          <a:xfrm>
            <a:off x="7360920" y="4343400"/>
            <a:ext cx="4389120" cy="1371600"/>
          </a:xfrm>
          <a:prstGeom prst="rect">
            <a:avLst/>
          </a:prstGeom>
          <a:solidFill>
            <a:srgbClr val="F4F6F8"/>
          </a:solidFill>
          <a:ln w="12700">
            <a:solidFill>
              <a:srgbClr val="D7DCE2"/>
            </a:solidFill>
            <a:prstDash val="solid"/>
          </a:ln>
        </p:spPr>
      </p:sp>
      <p:sp>
        <p:nvSpPr>
          <p:cNvPr id="8" name="Text 4"/>
          <p:cNvSpPr/>
          <p:nvPr/>
        </p:nvSpPr>
        <p:spPr>
          <a:xfrm>
            <a:off x="7589520" y="4489704"/>
            <a:ext cx="3931920" cy="274320"/>
          </a:xfrm>
          <a:prstGeom prst="rect">
            <a:avLst/>
          </a:prstGeom>
          <a:noFill/>
          <a:ln/>
        </p:spPr>
        <p:txBody>
          <a:bodyPr wrap="square" lIns="0" tIns="0" rIns="0" bIns="0" rtlCol="0" anchor="ctr"/>
          <a:lstStyle/>
          <a:p>
            <a:pPr indent="0" marL="0">
              <a:buNone/>
            </a:pPr>
            <a:r>
              <a:rPr lang="en-US" sz="1250" b="1" spc="100" kern="0" dirty="0">
                <a:solidFill>
                  <a:srgbClr val="E9A23B"/>
                </a:solidFill>
                <a:latin typeface="Calibri" pitchFamily="34" charset="0"/>
                <a:ea typeface="Calibri" pitchFamily="34" charset="-122"/>
                <a:cs typeface="Calibri" pitchFamily="34" charset="-120"/>
              </a:rPr>
              <a:t>SEED NOISE FLOOR</a:t>
            </a:r>
            <a:endParaRPr lang="en-US" sz="1250" dirty="0"/>
          </a:p>
        </p:txBody>
      </p:sp>
      <p:sp>
        <p:nvSpPr>
          <p:cNvPr id="9" name="Text 5"/>
          <p:cNvSpPr/>
          <p:nvPr/>
        </p:nvSpPr>
        <p:spPr>
          <a:xfrm>
            <a:off x="7589520" y="4764024"/>
            <a:ext cx="3931920" cy="914400"/>
          </a:xfrm>
          <a:prstGeom prst="rect">
            <a:avLst/>
          </a:prstGeom>
          <a:noFill/>
          <a:ln/>
        </p:spPr>
        <p:txBody>
          <a:bodyPr wrap="square" lIns="0" tIns="0" rIns="0" bIns="0" rtlCol="0" anchor="t"/>
          <a:lstStyle/>
          <a:p>
            <a:pPr indent="0" marL="0">
              <a:lnSpc>
                <a:spcPct val="105000"/>
              </a:lnSpc>
              <a:buNone/>
            </a:pPr>
            <a:r>
              <a:rPr lang="en-US" sz="1200" b="1" dirty="0">
                <a:solidFill>
                  <a:srgbClr val="22303F"/>
                </a:solidFill>
                <a:latin typeface="Calibri" pitchFamily="34" charset="0"/>
                <a:ea typeface="Calibri" pitchFamily="34" charset="-122"/>
                <a:cs typeface="Calibri" pitchFamily="34" charset="-120"/>
              </a:rPr>
              <a:t>Iter 7 (3-seed): </a:t>
            </a:r>
            <a:pPr indent="0" marL="0">
              <a:lnSpc>
                <a:spcPct val="105000"/>
              </a:lnSpc>
              <a:buNone/>
            </a:pPr>
            <a:r>
              <a:rPr lang="en-US" sz="1200" dirty="0">
                <a:solidFill>
                  <a:srgbClr val="22303F"/>
                </a:solidFill>
                <a:latin typeface="Calibri" pitchFamily="34" charset="0"/>
                <a:ea typeface="Calibri" pitchFamily="34" charset="-122"/>
                <a:cs typeface="Calibri" pitchFamily="34" charset="-120"/>
              </a:rPr>
              <a:t>RMSE 11.920 ± 0.019,  MAE ± 0.27
</a:t>
            </a:r>
            <a:pPr indent="0" marL="0">
              <a:lnSpc>
                <a:spcPct val="105000"/>
              </a:lnSpc>
              <a:buNone/>
            </a:pPr>
            <a:r>
              <a:rPr lang="en-US" sz="1200" i="1" dirty="0">
                <a:solidFill>
                  <a:srgbClr val="5C6B7A"/>
                </a:solidFill>
                <a:latin typeface="Calibri" pitchFamily="34" charset="0"/>
                <a:ea typeface="Calibri" pitchFamily="34" charset="-122"/>
                <a:cs typeface="Calibri" pitchFamily="34" charset="-120"/>
              </a:rPr>
              <a:t>Any single-seed claim below ±0.02 RMSE / ±0.27 MAE is uninterpretable. The Iter 8 “calibration win” sat entirely inside that band.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WHAT WORKED VS. WHAT FAILED</a:t>
            </a:r>
            <a:endParaRPr lang="en-US" sz="125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Two real wins, five named failure modes</a:t>
            </a:r>
            <a:endParaRPr lang="en-US" sz="2700" dirty="0"/>
          </a:p>
        </p:txBody>
      </p:sp>
      <p:sp>
        <p:nvSpPr>
          <p:cNvPr id="4" name="Shape 2"/>
          <p:cNvSpPr/>
          <p:nvPr/>
        </p:nvSpPr>
        <p:spPr>
          <a:xfrm>
            <a:off x="548640" y="1645920"/>
            <a:ext cx="5440680" cy="4480560"/>
          </a:xfrm>
          <a:prstGeom prst="rect">
            <a:avLst/>
          </a:prstGeom>
          <a:solidFill>
            <a:srgbClr val="EAF4F2"/>
          </a:solidFill>
          <a:ln w="15240">
            <a:solidFill>
              <a:srgbClr val="2A9D8F"/>
            </a:solidFill>
            <a:prstDash val="solid"/>
          </a:ln>
          <a:effectLst>
            <a:outerShdw sx="100000" sy="100000" kx="0" ky="0" algn="bl" rotWithShape="0" blurRad="101600" dist="38100" dir="5400000">
              <a:srgbClr val="9AA7B4">
                <a:alpha val="25000"/>
              </a:srgbClr>
            </a:outerShdw>
          </a:effectLst>
        </p:spPr>
      </p:sp>
      <p:sp>
        <p:nvSpPr>
          <p:cNvPr id="5" name="Text 3"/>
          <p:cNvSpPr/>
          <p:nvPr/>
        </p:nvSpPr>
        <p:spPr>
          <a:xfrm>
            <a:off x="822960" y="1828800"/>
            <a:ext cx="4892040" cy="320040"/>
          </a:xfrm>
          <a:prstGeom prst="rect">
            <a:avLst/>
          </a:prstGeom>
          <a:noFill/>
          <a:ln/>
        </p:spPr>
        <p:txBody>
          <a:bodyPr wrap="square" lIns="0" tIns="0" rIns="0" bIns="0" rtlCol="0" anchor="ctr"/>
          <a:lstStyle/>
          <a:p>
            <a:pPr indent="0" marL="0">
              <a:buNone/>
            </a:pPr>
            <a:r>
              <a:rPr lang="en-US" sz="1400" b="1" spc="100" kern="0" dirty="0">
                <a:solidFill>
                  <a:srgbClr val="2A9D8F"/>
                </a:solidFill>
                <a:latin typeface="Calibri" pitchFamily="34" charset="0"/>
                <a:ea typeface="Calibri" pitchFamily="34" charset="-122"/>
                <a:cs typeface="Calibri" pitchFamily="34" charset="-120"/>
              </a:rPr>
              <a:t>WHAT WORKED</a:t>
            </a:r>
            <a:endParaRPr lang="en-US" sz="1400" dirty="0"/>
          </a:p>
        </p:txBody>
      </p:sp>
      <p:sp>
        <p:nvSpPr>
          <p:cNvPr id="6" name="Text 4"/>
          <p:cNvSpPr/>
          <p:nvPr/>
        </p:nvSpPr>
        <p:spPr>
          <a:xfrm>
            <a:off x="822960" y="2212848"/>
            <a:ext cx="4937760" cy="274320"/>
          </a:xfrm>
          <a:prstGeom prst="rect">
            <a:avLst/>
          </a:prstGeom>
          <a:noFill/>
          <a:ln/>
        </p:spPr>
        <p:txBody>
          <a:bodyPr wrap="square" lIns="0" tIns="0" rIns="0" bIns="0" rtlCol="0" anchor="ctr"/>
          <a:lstStyle/>
          <a:p>
            <a:pPr indent="0" marL="0">
              <a:buNone/>
            </a:pPr>
            <a:r>
              <a:rPr lang="en-US" sz="1350" b="1" dirty="0">
                <a:solidFill>
                  <a:srgbClr val="22303F"/>
                </a:solidFill>
                <a:latin typeface="Calibri" pitchFamily="34" charset="0"/>
                <a:ea typeface="Calibri" pitchFamily="34" charset="-122"/>
                <a:cs typeface="Calibri" pitchFamily="34" charset="-120"/>
              </a:rPr>
              <a:t>Per-node temporal encoding</a:t>
            </a:r>
            <a:pPr indent="0" marL="0">
              <a:buNone/>
            </a:pPr>
            <a:r>
              <a:rPr lang="en-US" sz="1250" b="1" dirty="0">
                <a:solidFill>
                  <a:srgbClr val="2A9D8F"/>
                </a:solidFill>
                <a:latin typeface="Calibri" pitchFamily="34" charset="0"/>
                <a:ea typeface="Calibri" pitchFamily="34" charset="-122"/>
                <a:cs typeface="Calibri" pitchFamily="34" charset="-120"/>
              </a:rPr>
              <a:t>    −6.67 RMSE</a:t>
            </a:r>
            <a:endParaRPr lang="en-US" sz="1350" dirty="0"/>
          </a:p>
        </p:txBody>
      </p:sp>
      <p:sp>
        <p:nvSpPr>
          <p:cNvPr id="7" name="Text 5"/>
          <p:cNvSpPr/>
          <p:nvPr/>
        </p:nvSpPr>
        <p:spPr>
          <a:xfrm>
            <a:off x="822960" y="2505456"/>
            <a:ext cx="4892040" cy="822960"/>
          </a:xfrm>
          <a:prstGeom prst="rect">
            <a:avLst/>
          </a:prstGeom>
          <a:noFill/>
          <a:ln/>
        </p:spPr>
        <p:txBody>
          <a:bodyPr wrap="square" lIns="0" tIns="0" rIns="0" bIns="0" rtlCol="0" anchor="t"/>
          <a:lstStyle/>
          <a:p>
            <a:pPr indent="0" marL="0">
              <a:lnSpc>
                <a:spcPct val="100000"/>
              </a:lnSpc>
              <a:buNone/>
            </a:pPr>
            <a:r>
              <a:rPr lang="en-US" sz="1200" dirty="0">
                <a:solidFill>
                  <a:srgbClr val="5C6B7A"/>
                </a:solidFill>
                <a:latin typeface="Calibri" pitchFamily="34" charset="0"/>
                <a:ea typeface="Calibri" pitchFamily="34" charset="-122"/>
                <a:cs typeface="Calibri" pitchFamily="34" charset="-120"/>
              </a:rPr>
              <a:t>Reshape (B,T,N)→(B·N,T,1) gave each sensor its own embedding. The only step-function win.</a:t>
            </a:r>
            <a:endParaRPr lang="en-US" sz="1200" dirty="0"/>
          </a:p>
        </p:txBody>
      </p:sp>
      <p:sp>
        <p:nvSpPr>
          <p:cNvPr id="8" name="Text 6"/>
          <p:cNvSpPr/>
          <p:nvPr/>
        </p:nvSpPr>
        <p:spPr>
          <a:xfrm>
            <a:off x="822960" y="3493008"/>
            <a:ext cx="4937760" cy="274320"/>
          </a:xfrm>
          <a:prstGeom prst="rect">
            <a:avLst/>
          </a:prstGeom>
          <a:noFill/>
          <a:ln/>
        </p:spPr>
        <p:txBody>
          <a:bodyPr wrap="square" lIns="0" tIns="0" rIns="0" bIns="0" rtlCol="0" anchor="ctr"/>
          <a:lstStyle/>
          <a:p>
            <a:pPr indent="0" marL="0">
              <a:buNone/>
            </a:pPr>
            <a:r>
              <a:rPr lang="en-US" sz="1350" b="1" dirty="0">
                <a:solidFill>
                  <a:srgbClr val="22303F"/>
                </a:solidFill>
                <a:latin typeface="Calibri" pitchFamily="34" charset="0"/>
                <a:ea typeface="Calibri" pitchFamily="34" charset="-122"/>
                <a:cs typeface="Calibri" pitchFamily="34" charset="-120"/>
              </a:rPr>
              <a:t>Correlation &gt; physical adjacency</a:t>
            </a:r>
            <a:pPr indent="0" marL="0">
              <a:buNone/>
            </a:pPr>
            <a:r>
              <a:rPr lang="en-US" sz="1250" b="1" dirty="0">
                <a:solidFill>
                  <a:srgbClr val="2A9D8F"/>
                </a:solidFill>
                <a:latin typeface="Calibri" pitchFamily="34" charset="0"/>
                <a:ea typeface="Calibri" pitchFamily="34" charset="-122"/>
                <a:cs typeface="Calibri" pitchFamily="34" charset="-120"/>
              </a:rPr>
              <a:t>    −0.12 RMSE</a:t>
            </a:r>
            <a:endParaRPr lang="en-US" sz="1350" dirty="0"/>
          </a:p>
        </p:txBody>
      </p:sp>
      <p:sp>
        <p:nvSpPr>
          <p:cNvPr id="9" name="Text 7"/>
          <p:cNvSpPr/>
          <p:nvPr/>
        </p:nvSpPr>
        <p:spPr>
          <a:xfrm>
            <a:off x="822960" y="3785616"/>
            <a:ext cx="4892040" cy="822960"/>
          </a:xfrm>
          <a:prstGeom prst="rect">
            <a:avLst/>
          </a:prstGeom>
          <a:noFill/>
          <a:ln/>
        </p:spPr>
        <p:txBody>
          <a:bodyPr wrap="square" lIns="0" tIns="0" rIns="0" bIns="0" rtlCol="0" anchor="t"/>
          <a:lstStyle/>
          <a:p>
            <a:pPr indent="0" marL="0">
              <a:lnSpc>
                <a:spcPct val="100000"/>
              </a:lnSpc>
              <a:buNone/>
            </a:pPr>
            <a:r>
              <a:rPr lang="en-US" sz="1200" dirty="0">
                <a:solidFill>
                  <a:srgbClr val="5C6B7A"/>
                </a:solidFill>
                <a:latin typeface="Calibri" pitchFamily="34" charset="0"/>
                <a:ea typeface="Calibri" pitchFamily="34" charset="-122"/>
                <a:cs typeface="Calibri" pitchFamily="34" charset="-120"/>
              </a:rPr>
              <a:t>Pearson-K5 neighbors (train-split) beat physical neighbors — free, and 4× the GCN→GAT gain. Topology &gt; operator.</a:t>
            </a:r>
            <a:endParaRPr lang="en-US" sz="1200" dirty="0"/>
          </a:p>
        </p:txBody>
      </p:sp>
      <p:sp>
        <p:nvSpPr>
          <p:cNvPr id="10" name="Text 8"/>
          <p:cNvSpPr/>
          <p:nvPr/>
        </p:nvSpPr>
        <p:spPr>
          <a:xfrm>
            <a:off x="822960" y="4773168"/>
            <a:ext cx="4937760" cy="274320"/>
          </a:xfrm>
          <a:prstGeom prst="rect">
            <a:avLst/>
          </a:prstGeom>
          <a:noFill/>
          <a:ln/>
        </p:spPr>
        <p:txBody>
          <a:bodyPr wrap="square" lIns="0" tIns="0" rIns="0" bIns="0" rtlCol="0" anchor="ctr"/>
          <a:lstStyle/>
          <a:p>
            <a:pPr indent="0" marL="0">
              <a:buNone/>
            </a:pPr>
            <a:r>
              <a:rPr lang="en-US" sz="1350" b="1" dirty="0">
                <a:solidFill>
                  <a:srgbClr val="22303F"/>
                </a:solidFill>
                <a:latin typeface="Calibri" pitchFamily="34" charset="0"/>
                <a:ea typeface="Calibri" pitchFamily="34" charset="-122"/>
                <a:cs typeface="Calibri" pitchFamily="34" charset="-120"/>
              </a:rPr>
              <a:t>The logic gate as forcing function</a:t>
            </a:r>
            <a:pPr indent="0" marL="0">
              <a:buNone/>
            </a:pPr>
            <a:r>
              <a:rPr lang="en-US" sz="1250" b="1" dirty="0">
                <a:solidFill>
                  <a:srgbClr val="2A9D8F"/>
                </a:solidFill>
                <a:latin typeface="Calibri" pitchFamily="34" charset="0"/>
                <a:ea typeface="Calibri" pitchFamily="34" charset="-122"/>
                <a:cs typeface="Calibri" pitchFamily="34" charset="-120"/>
              </a:rPr>
              <a:t>    procedural</a:t>
            </a:r>
            <a:endParaRPr lang="en-US" sz="1350" dirty="0"/>
          </a:p>
        </p:txBody>
      </p:sp>
      <p:sp>
        <p:nvSpPr>
          <p:cNvPr id="11" name="Text 9"/>
          <p:cNvSpPr/>
          <p:nvPr/>
        </p:nvSpPr>
        <p:spPr>
          <a:xfrm>
            <a:off x="822960" y="5065776"/>
            <a:ext cx="4892040" cy="822960"/>
          </a:xfrm>
          <a:prstGeom prst="rect">
            <a:avLst/>
          </a:prstGeom>
          <a:noFill/>
          <a:ln/>
        </p:spPr>
        <p:txBody>
          <a:bodyPr wrap="square" lIns="0" tIns="0" rIns="0" bIns="0" rtlCol="0" anchor="t"/>
          <a:lstStyle/>
          <a:p>
            <a:pPr indent="0" marL="0">
              <a:lnSpc>
                <a:spcPct val="100000"/>
              </a:lnSpc>
              <a:buNone/>
            </a:pPr>
            <a:r>
              <a:rPr lang="en-US" sz="1200" dirty="0">
                <a:solidFill>
                  <a:srgbClr val="5C6B7A"/>
                </a:solidFill>
                <a:latin typeface="Calibri" pitchFamily="34" charset="0"/>
                <a:ea typeface="Calibri" pitchFamily="34" charset="-122"/>
                <a:cs typeface="Calibri" pitchFamily="34" charset="-120"/>
              </a:rPr>
              <a:t>Auto-discarded Iter 5 &amp; 6. This is what made the attribution defensible.</a:t>
            </a:r>
            <a:endParaRPr lang="en-US" sz="1200" dirty="0"/>
          </a:p>
        </p:txBody>
      </p:sp>
      <p:sp>
        <p:nvSpPr>
          <p:cNvPr id="12" name="Shape 10"/>
          <p:cNvSpPr/>
          <p:nvPr/>
        </p:nvSpPr>
        <p:spPr>
          <a:xfrm>
            <a:off x="6263640" y="1645920"/>
            <a:ext cx="5394960" cy="4480560"/>
          </a:xfrm>
          <a:prstGeom prst="rect">
            <a:avLst/>
          </a:prstGeom>
          <a:solidFill>
            <a:srgbClr val="F4F6F8"/>
          </a:solidFill>
          <a:ln w="12700">
            <a:solidFill>
              <a:srgbClr val="D7DCE2"/>
            </a:solidFill>
            <a:prstDash val="solid"/>
          </a:ln>
          <a:effectLst>
            <a:outerShdw sx="100000" sy="100000" kx="0" ky="0" algn="bl" rotWithShape="0" blurRad="101600" dist="38100" dir="5400000">
              <a:srgbClr val="9AA7B4">
                <a:alpha val="25000"/>
              </a:srgbClr>
            </a:outerShdw>
          </a:effectLst>
        </p:spPr>
      </p:sp>
      <p:sp>
        <p:nvSpPr>
          <p:cNvPr id="13" name="Text 11"/>
          <p:cNvSpPr/>
          <p:nvPr/>
        </p:nvSpPr>
        <p:spPr>
          <a:xfrm>
            <a:off x="6537960" y="1828800"/>
            <a:ext cx="4846320" cy="320040"/>
          </a:xfrm>
          <a:prstGeom prst="rect">
            <a:avLst/>
          </a:prstGeom>
          <a:noFill/>
          <a:ln/>
        </p:spPr>
        <p:txBody>
          <a:bodyPr wrap="square" lIns="0" tIns="0" rIns="0" bIns="0" rtlCol="0" anchor="ctr"/>
          <a:lstStyle/>
          <a:p>
            <a:pPr indent="0" marL="0">
              <a:buNone/>
            </a:pPr>
            <a:r>
              <a:rPr lang="en-US" sz="1400" b="1" spc="100" kern="0" dirty="0">
                <a:solidFill>
                  <a:srgbClr val="C44536"/>
                </a:solidFill>
                <a:latin typeface="Calibri" pitchFamily="34" charset="0"/>
                <a:ea typeface="Calibri" pitchFamily="34" charset="-122"/>
                <a:cs typeface="Calibri" pitchFamily="34" charset="-120"/>
              </a:rPr>
              <a:t>FAILURE TAXONOMY</a:t>
            </a:r>
            <a:endParaRPr lang="en-US" sz="1400" dirty="0"/>
          </a:p>
        </p:txBody>
      </p:sp>
      <p:sp>
        <p:nvSpPr>
          <p:cNvPr id="14" name="Shape 12"/>
          <p:cNvSpPr/>
          <p:nvPr/>
        </p:nvSpPr>
        <p:spPr>
          <a:xfrm>
            <a:off x="6537960" y="2212848"/>
            <a:ext cx="475488" cy="475488"/>
          </a:xfrm>
          <a:prstGeom prst="rect">
            <a:avLst/>
          </a:prstGeom>
          <a:solidFill>
            <a:srgbClr val="C44536"/>
          </a:solidFill>
          <a:ln/>
        </p:spPr>
      </p:sp>
      <p:sp>
        <p:nvSpPr>
          <p:cNvPr id="15" name="Text 13"/>
          <p:cNvSpPr/>
          <p:nvPr/>
        </p:nvSpPr>
        <p:spPr>
          <a:xfrm>
            <a:off x="6537960" y="221284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T1</a:t>
            </a:r>
            <a:endParaRPr lang="en-US" sz="1300" dirty="0"/>
          </a:p>
        </p:txBody>
      </p:sp>
      <p:sp>
        <p:nvSpPr>
          <p:cNvPr id="16" name="Text 14"/>
          <p:cNvSpPr/>
          <p:nvPr/>
        </p:nvSpPr>
        <p:spPr>
          <a:xfrm>
            <a:off x="7132320" y="2194560"/>
            <a:ext cx="4251960" cy="274320"/>
          </a:xfrm>
          <a:prstGeom prst="rect">
            <a:avLst/>
          </a:prstGeom>
          <a:noFill/>
          <a:ln/>
        </p:spPr>
        <p:txBody>
          <a:bodyPr wrap="square" lIns="0" tIns="0" rIns="0" bIns="0" rtlCol="0" anchor="ctr"/>
          <a:lstStyle/>
          <a:p>
            <a:pPr indent="0" marL="0">
              <a:buNone/>
            </a:pPr>
            <a:r>
              <a:rPr lang="en-US" sz="1300" b="1" dirty="0">
                <a:solidFill>
                  <a:srgbClr val="22303F"/>
                </a:solidFill>
                <a:latin typeface="Calibri" pitchFamily="34" charset="0"/>
                <a:ea typeface="Calibri" pitchFamily="34" charset="-122"/>
                <a:cs typeface="Calibri" pitchFamily="34" charset="-120"/>
              </a:rPr>
              <a:t>Representation collapse</a:t>
            </a:r>
            <a:endParaRPr lang="en-US" sz="1300" dirty="0"/>
          </a:p>
        </p:txBody>
      </p:sp>
      <p:sp>
        <p:nvSpPr>
          <p:cNvPr id="17" name="Text 15"/>
          <p:cNvSpPr/>
          <p:nvPr/>
        </p:nvSpPr>
        <p:spPr>
          <a:xfrm>
            <a:off x="7132320" y="2450592"/>
            <a:ext cx="4251960" cy="502920"/>
          </a:xfrm>
          <a:prstGeom prst="rect">
            <a:avLst/>
          </a:prstGeom>
          <a:noFill/>
          <a:ln/>
        </p:spPr>
        <p:txBody>
          <a:bodyPr wrap="square" lIns="0" tIns="0" rIns="0" bIns="0" rtlCol="0" anchor="t"/>
          <a:lstStyle/>
          <a:p>
            <a:pPr indent="0" marL="0">
              <a:lnSpc>
                <a:spcPct val="97000"/>
              </a:lnSpc>
              <a:buNone/>
            </a:pPr>
            <a:r>
              <a:rPr lang="en-US" sz="1150" dirty="0">
                <a:solidFill>
                  <a:srgbClr val="5C6B7A"/>
                </a:solidFill>
                <a:latin typeface="Calibri" pitchFamily="34" charset="0"/>
                <a:ea typeface="Calibri" pitchFamily="34" charset="-122"/>
                <a:cs typeface="Calibri" pitchFamily="34" charset="-120"/>
              </a:rPr>
              <a:t>Iter 1 — shared embedding broadcast to all nodes; GNN has nothing to say.</a:t>
            </a:r>
            <a:endParaRPr lang="en-US" sz="1150" dirty="0"/>
          </a:p>
        </p:txBody>
      </p:sp>
      <p:sp>
        <p:nvSpPr>
          <p:cNvPr id="18" name="Shape 16"/>
          <p:cNvSpPr/>
          <p:nvPr/>
        </p:nvSpPr>
        <p:spPr>
          <a:xfrm>
            <a:off x="6537960" y="2980944"/>
            <a:ext cx="475488" cy="475488"/>
          </a:xfrm>
          <a:prstGeom prst="rect">
            <a:avLst/>
          </a:prstGeom>
          <a:solidFill>
            <a:srgbClr val="C44536"/>
          </a:solidFill>
          <a:ln/>
        </p:spPr>
      </p:sp>
      <p:sp>
        <p:nvSpPr>
          <p:cNvPr id="19" name="Text 17"/>
          <p:cNvSpPr/>
          <p:nvPr/>
        </p:nvSpPr>
        <p:spPr>
          <a:xfrm>
            <a:off x="6537960" y="298094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T2</a:t>
            </a:r>
            <a:endParaRPr lang="en-US" sz="1300" dirty="0"/>
          </a:p>
        </p:txBody>
      </p:sp>
      <p:sp>
        <p:nvSpPr>
          <p:cNvPr id="20" name="Text 18"/>
          <p:cNvSpPr/>
          <p:nvPr/>
        </p:nvSpPr>
        <p:spPr>
          <a:xfrm>
            <a:off x="7132320" y="2962656"/>
            <a:ext cx="4251960" cy="274320"/>
          </a:xfrm>
          <a:prstGeom prst="rect">
            <a:avLst/>
          </a:prstGeom>
          <a:noFill/>
          <a:ln/>
        </p:spPr>
        <p:txBody>
          <a:bodyPr wrap="square" lIns="0" tIns="0" rIns="0" bIns="0" rtlCol="0" anchor="ctr"/>
          <a:lstStyle/>
          <a:p>
            <a:pPr indent="0" marL="0">
              <a:buNone/>
            </a:pPr>
            <a:r>
              <a:rPr lang="en-US" sz="1300" b="1" dirty="0">
                <a:solidFill>
                  <a:srgbClr val="22303F"/>
                </a:solidFill>
                <a:latin typeface="Calibri" pitchFamily="34" charset="0"/>
                <a:ea typeface="Calibri" pitchFamily="34" charset="-122"/>
                <a:cs typeface="Calibri" pitchFamily="34" charset="-120"/>
              </a:rPr>
              <a:t>Optimization instability</a:t>
            </a:r>
            <a:endParaRPr lang="en-US" sz="1300" dirty="0"/>
          </a:p>
        </p:txBody>
      </p:sp>
      <p:sp>
        <p:nvSpPr>
          <p:cNvPr id="21" name="Text 19"/>
          <p:cNvSpPr/>
          <p:nvPr/>
        </p:nvSpPr>
        <p:spPr>
          <a:xfrm>
            <a:off x="7132320" y="3218688"/>
            <a:ext cx="4251960" cy="502920"/>
          </a:xfrm>
          <a:prstGeom prst="rect">
            <a:avLst/>
          </a:prstGeom>
          <a:noFill/>
          <a:ln/>
        </p:spPr>
        <p:txBody>
          <a:bodyPr wrap="square" lIns="0" tIns="0" rIns="0" bIns="0" rtlCol="0" anchor="t"/>
          <a:lstStyle/>
          <a:p>
            <a:pPr indent="0" marL="0">
              <a:lnSpc>
                <a:spcPct val="97000"/>
              </a:lnSpc>
              <a:buNone/>
            </a:pPr>
            <a:r>
              <a:rPr lang="en-US" sz="1150" dirty="0">
                <a:solidFill>
                  <a:srgbClr val="5C6B7A"/>
                </a:solidFill>
                <a:latin typeface="Calibri" pitchFamily="34" charset="0"/>
                <a:ea typeface="Calibri" pitchFamily="34" charset="-122"/>
                <a:cs typeface="Calibri" pitchFamily="34" charset="-120"/>
              </a:rPr>
              <a:t>Iter 5 — 2-layer LSTM on T=12; MAE +0.74 while RMSE looked flat.</a:t>
            </a:r>
            <a:endParaRPr lang="en-US" sz="1150" dirty="0"/>
          </a:p>
        </p:txBody>
      </p:sp>
      <p:sp>
        <p:nvSpPr>
          <p:cNvPr id="22" name="Shape 20"/>
          <p:cNvSpPr/>
          <p:nvPr/>
        </p:nvSpPr>
        <p:spPr>
          <a:xfrm>
            <a:off x="6537960" y="3749040"/>
            <a:ext cx="475488" cy="475488"/>
          </a:xfrm>
          <a:prstGeom prst="rect">
            <a:avLst/>
          </a:prstGeom>
          <a:solidFill>
            <a:srgbClr val="C44536"/>
          </a:solidFill>
          <a:ln/>
        </p:spPr>
      </p:sp>
      <p:sp>
        <p:nvSpPr>
          <p:cNvPr id="23" name="Text 21"/>
          <p:cNvSpPr/>
          <p:nvPr/>
        </p:nvSpPr>
        <p:spPr>
          <a:xfrm>
            <a:off x="6537960" y="374904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T3</a:t>
            </a:r>
            <a:endParaRPr lang="en-US" sz="1300" dirty="0"/>
          </a:p>
        </p:txBody>
      </p:sp>
      <p:sp>
        <p:nvSpPr>
          <p:cNvPr id="24" name="Text 22"/>
          <p:cNvSpPr/>
          <p:nvPr/>
        </p:nvSpPr>
        <p:spPr>
          <a:xfrm>
            <a:off x="7132320" y="3730752"/>
            <a:ext cx="4251960" cy="274320"/>
          </a:xfrm>
          <a:prstGeom prst="rect">
            <a:avLst/>
          </a:prstGeom>
          <a:noFill/>
          <a:ln/>
        </p:spPr>
        <p:txBody>
          <a:bodyPr wrap="square" lIns="0" tIns="0" rIns="0" bIns="0" rtlCol="0" anchor="ctr"/>
          <a:lstStyle/>
          <a:p>
            <a:pPr indent="0" marL="0">
              <a:buNone/>
            </a:pPr>
            <a:r>
              <a:rPr lang="en-US" sz="1300" b="1" dirty="0">
                <a:solidFill>
                  <a:srgbClr val="22303F"/>
                </a:solidFill>
                <a:latin typeface="Calibri" pitchFamily="34" charset="0"/>
                <a:ea typeface="Calibri" pitchFamily="34" charset="-122"/>
                <a:cs typeface="Calibri" pitchFamily="34" charset="-120"/>
              </a:rPr>
              <a:t>Capacity overshoot</a:t>
            </a:r>
            <a:endParaRPr lang="en-US" sz="1300" dirty="0"/>
          </a:p>
        </p:txBody>
      </p:sp>
      <p:sp>
        <p:nvSpPr>
          <p:cNvPr id="25" name="Text 23"/>
          <p:cNvSpPr/>
          <p:nvPr/>
        </p:nvSpPr>
        <p:spPr>
          <a:xfrm>
            <a:off x="7132320" y="3986784"/>
            <a:ext cx="4251960" cy="502920"/>
          </a:xfrm>
          <a:prstGeom prst="rect">
            <a:avLst/>
          </a:prstGeom>
          <a:noFill/>
          <a:ln/>
        </p:spPr>
        <p:txBody>
          <a:bodyPr wrap="square" lIns="0" tIns="0" rIns="0" bIns="0" rtlCol="0" anchor="t"/>
          <a:lstStyle/>
          <a:p>
            <a:pPr indent="0" marL="0">
              <a:lnSpc>
                <a:spcPct val="97000"/>
              </a:lnSpc>
              <a:buNone/>
            </a:pPr>
            <a:r>
              <a:rPr lang="en-US" sz="1150" dirty="0">
                <a:solidFill>
                  <a:srgbClr val="5C6B7A"/>
                </a:solidFill>
                <a:latin typeface="Calibri" pitchFamily="34" charset="0"/>
                <a:ea typeface="Calibri" pitchFamily="34" charset="-122"/>
                <a:cs typeface="Calibri" pitchFamily="34" charset="-120"/>
              </a:rPr>
              <a:t>Iter 6 — hidden 96 overfits in last epochs at fixed budget.</a:t>
            </a:r>
            <a:endParaRPr lang="en-US" sz="1150" dirty="0"/>
          </a:p>
        </p:txBody>
      </p:sp>
      <p:sp>
        <p:nvSpPr>
          <p:cNvPr id="26" name="Shape 24"/>
          <p:cNvSpPr/>
          <p:nvPr/>
        </p:nvSpPr>
        <p:spPr>
          <a:xfrm>
            <a:off x="6537960" y="4517136"/>
            <a:ext cx="475488" cy="475488"/>
          </a:xfrm>
          <a:prstGeom prst="rect">
            <a:avLst/>
          </a:prstGeom>
          <a:solidFill>
            <a:srgbClr val="C44536"/>
          </a:solidFill>
          <a:ln/>
        </p:spPr>
      </p:sp>
      <p:sp>
        <p:nvSpPr>
          <p:cNvPr id="27" name="Text 25"/>
          <p:cNvSpPr/>
          <p:nvPr/>
        </p:nvSpPr>
        <p:spPr>
          <a:xfrm>
            <a:off x="6537960" y="451713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T4</a:t>
            </a:r>
            <a:endParaRPr lang="en-US" sz="1300" dirty="0"/>
          </a:p>
        </p:txBody>
      </p:sp>
      <p:sp>
        <p:nvSpPr>
          <p:cNvPr id="28" name="Text 26"/>
          <p:cNvSpPr/>
          <p:nvPr/>
        </p:nvSpPr>
        <p:spPr>
          <a:xfrm>
            <a:off x="7132320" y="4498848"/>
            <a:ext cx="4251960" cy="274320"/>
          </a:xfrm>
          <a:prstGeom prst="rect">
            <a:avLst/>
          </a:prstGeom>
          <a:noFill/>
          <a:ln/>
        </p:spPr>
        <p:txBody>
          <a:bodyPr wrap="square" lIns="0" tIns="0" rIns="0" bIns="0" rtlCol="0" anchor="ctr"/>
          <a:lstStyle/>
          <a:p>
            <a:pPr indent="0" marL="0">
              <a:buNone/>
            </a:pPr>
            <a:r>
              <a:rPr lang="en-US" sz="1300" b="1" dirty="0">
                <a:solidFill>
                  <a:srgbClr val="22303F"/>
                </a:solidFill>
                <a:latin typeface="Calibri" pitchFamily="34" charset="0"/>
                <a:ea typeface="Calibri" pitchFamily="34" charset="-122"/>
                <a:cs typeface="Calibri" pitchFamily="34" charset="-120"/>
              </a:rPr>
              <a:t>Topology misspecification</a:t>
            </a:r>
            <a:endParaRPr lang="en-US" sz="1300" dirty="0"/>
          </a:p>
        </p:txBody>
      </p:sp>
      <p:sp>
        <p:nvSpPr>
          <p:cNvPr id="29" name="Text 27"/>
          <p:cNvSpPr/>
          <p:nvPr/>
        </p:nvSpPr>
        <p:spPr>
          <a:xfrm>
            <a:off x="7132320" y="4754880"/>
            <a:ext cx="4251960" cy="502920"/>
          </a:xfrm>
          <a:prstGeom prst="rect">
            <a:avLst/>
          </a:prstGeom>
          <a:noFill/>
          <a:ln/>
        </p:spPr>
        <p:txBody>
          <a:bodyPr wrap="square" lIns="0" tIns="0" rIns="0" bIns="0" rtlCol="0" anchor="t"/>
          <a:lstStyle/>
          <a:p>
            <a:pPr indent="0" marL="0">
              <a:lnSpc>
                <a:spcPct val="97000"/>
              </a:lnSpc>
              <a:buNone/>
            </a:pPr>
            <a:r>
              <a:rPr lang="en-US" sz="1150" dirty="0">
                <a:solidFill>
                  <a:srgbClr val="5C6B7A"/>
                </a:solidFill>
                <a:latin typeface="Calibri" pitchFamily="34" charset="0"/>
                <a:ea typeface="Calibri" pitchFamily="34" charset="-122"/>
                <a:cs typeface="Calibri" pitchFamily="34" charset="-120"/>
              </a:rPr>
              <a:t>Iter 3 — GAT on the wrong graph; switching adjacency gave 4× more.</a:t>
            </a:r>
            <a:endParaRPr lang="en-US" sz="1150" dirty="0"/>
          </a:p>
        </p:txBody>
      </p:sp>
      <p:sp>
        <p:nvSpPr>
          <p:cNvPr id="30" name="Shape 28"/>
          <p:cNvSpPr/>
          <p:nvPr/>
        </p:nvSpPr>
        <p:spPr>
          <a:xfrm>
            <a:off x="6537960" y="5285232"/>
            <a:ext cx="475488" cy="475488"/>
          </a:xfrm>
          <a:prstGeom prst="rect">
            <a:avLst/>
          </a:prstGeom>
          <a:solidFill>
            <a:srgbClr val="C44536"/>
          </a:solidFill>
          <a:ln/>
        </p:spPr>
      </p:sp>
      <p:sp>
        <p:nvSpPr>
          <p:cNvPr id="31" name="Text 29"/>
          <p:cNvSpPr/>
          <p:nvPr/>
        </p:nvSpPr>
        <p:spPr>
          <a:xfrm>
            <a:off x="6537960" y="528523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T5</a:t>
            </a:r>
            <a:endParaRPr lang="en-US" sz="1300" dirty="0"/>
          </a:p>
        </p:txBody>
      </p:sp>
      <p:sp>
        <p:nvSpPr>
          <p:cNvPr id="32" name="Text 30"/>
          <p:cNvSpPr/>
          <p:nvPr/>
        </p:nvSpPr>
        <p:spPr>
          <a:xfrm>
            <a:off x="7132320" y="5266944"/>
            <a:ext cx="4251960" cy="274320"/>
          </a:xfrm>
          <a:prstGeom prst="rect">
            <a:avLst/>
          </a:prstGeom>
          <a:noFill/>
          <a:ln/>
        </p:spPr>
        <p:txBody>
          <a:bodyPr wrap="square" lIns="0" tIns="0" rIns="0" bIns="0" rtlCol="0" anchor="ctr"/>
          <a:lstStyle/>
          <a:p>
            <a:pPr indent="0" marL="0">
              <a:buNone/>
            </a:pPr>
            <a:r>
              <a:rPr lang="en-US" sz="1300" b="1" dirty="0">
                <a:solidFill>
                  <a:srgbClr val="22303F"/>
                </a:solidFill>
                <a:latin typeface="Calibri" pitchFamily="34" charset="0"/>
                <a:ea typeface="Calibri" pitchFamily="34" charset="-122"/>
                <a:cs typeface="Calibri" pitchFamily="34" charset="-120"/>
              </a:rPr>
              <a:t>Compute-quality mismatch</a:t>
            </a:r>
            <a:endParaRPr lang="en-US" sz="1300" dirty="0"/>
          </a:p>
        </p:txBody>
      </p:sp>
      <p:sp>
        <p:nvSpPr>
          <p:cNvPr id="33" name="Text 31"/>
          <p:cNvSpPr/>
          <p:nvPr/>
        </p:nvSpPr>
        <p:spPr>
          <a:xfrm>
            <a:off x="7132320" y="5522976"/>
            <a:ext cx="4251960" cy="502920"/>
          </a:xfrm>
          <a:prstGeom prst="rect">
            <a:avLst/>
          </a:prstGeom>
          <a:noFill/>
          <a:ln/>
        </p:spPr>
        <p:txBody>
          <a:bodyPr wrap="square" lIns="0" tIns="0" rIns="0" bIns="0" rtlCol="0" anchor="t"/>
          <a:lstStyle/>
          <a:p>
            <a:pPr indent="0" marL="0">
              <a:lnSpc>
                <a:spcPct val="97000"/>
              </a:lnSpc>
              <a:buNone/>
            </a:pPr>
            <a:r>
              <a:rPr lang="en-US" sz="1150" dirty="0">
                <a:solidFill>
                  <a:srgbClr val="5C6B7A"/>
                </a:solidFill>
                <a:latin typeface="Calibri" pitchFamily="34" charset="0"/>
                <a:ea typeface="Calibri" pitchFamily="34" charset="-122"/>
                <a:cs typeface="Calibri" pitchFamily="34" charset="-120"/>
              </a:rPr>
              <a:t>Iter 3 &amp; 15 — small gain bought at 1.6–2.5× runtime.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548640" y="457200"/>
            <a:ext cx="11155680" cy="320040"/>
          </a:xfrm>
          <a:prstGeom prst="rect">
            <a:avLst/>
          </a:prstGeom>
          <a:noFill/>
          <a:ln/>
        </p:spPr>
        <p:txBody>
          <a:bodyPr wrap="square" lIns="0" tIns="0" rIns="0" bIns="0" rtlCol="0" anchor="ctr"/>
          <a:lstStyle/>
          <a:p>
            <a:pPr indent="0" marL="0">
              <a:buNone/>
            </a:pPr>
            <a:r>
              <a:rPr lang="en-US" sz="1300" b="1" spc="150" kern="0" dirty="0">
                <a:solidFill>
                  <a:srgbClr val="E9A23B"/>
                </a:solidFill>
                <a:latin typeface="Calibri" pitchFamily="34" charset="0"/>
                <a:ea typeface="Calibri" pitchFamily="34" charset="-122"/>
                <a:cs typeface="Calibri" pitchFamily="34" charset="-120"/>
              </a:rPr>
              <a:t>REFLECTION  ·  WHAT THIS TAUGHT US ABOUT AGENT-ASSISTED RESEARCH</a:t>
            </a:r>
            <a:endParaRPr lang="en-US" sz="1300" dirty="0"/>
          </a:p>
        </p:txBody>
      </p:sp>
      <p:sp>
        <p:nvSpPr>
          <p:cNvPr id="3" name="Text 1"/>
          <p:cNvSpPr/>
          <p:nvPr/>
        </p:nvSpPr>
        <p:spPr>
          <a:xfrm>
            <a:off x="548640" y="777240"/>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discipline that mattered was not the architecture search</a:t>
            </a:r>
            <a:endParaRPr lang="en-US" sz="2600" dirty="0"/>
          </a:p>
        </p:txBody>
      </p:sp>
      <p:sp>
        <p:nvSpPr>
          <p:cNvPr id="4" name="Shape 2"/>
          <p:cNvSpPr/>
          <p:nvPr/>
        </p:nvSpPr>
        <p:spPr>
          <a:xfrm>
            <a:off x="548640" y="1508760"/>
            <a:ext cx="5440680" cy="1417320"/>
          </a:xfrm>
          <a:prstGeom prst="rect">
            <a:avLst/>
          </a:prstGeom>
          <a:solidFill>
            <a:srgbClr val="16293F"/>
          </a:solidFill>
          <a:ln/>
        </p:spPr>
      </p:sp>
      <p:sp>
        <p:nvSpPr>
          <p:cNvPr id="5" name="Shape 3"/>
          <p:cNvSpPr/>
          <p:nvPr/>
        </p:nvSpPr>
        <p:spPr>
          <a:xfrm>
            <a:off x="548640" y="1508760"/>
            <a:ext cx="82296" cy="1417320"/>
          </a:xfrm>
          <a:prstGeom prst="rect">
            <a:avLst/>
          </a:prstGeom>
          <a:solidFill>
            <a:srgbClr val="E9A23B"/>
          </a:solidFill>
          <a:ln/>
        </p:spPr>
      </p:sp>
      <p:sp>
        <p:nvSpPr>
          <p:cNvPr id="6" name="Text 4"/>
          <p:cNvSpPr/>
          <p:nvPr/>
        </p:nvSpPr>
        <p:spPr>
          <a:xfrm>
            <a:off x="777240" y="1673352"/>
            <a:ext cx="640080" cy="640080"/>
          </a:xfrm>
          <a:prstGeom prst="rect">
            <a:avLst/>
          </a:prstGeom>
          <a:noFill/>
          <a:ln/>
        </p:spPr>
        <p:txBody>
          <a:bodyPr wrap="square" lIns="0" tIns="0" rIns="0" bIns="0" rtlCol="0" anchor="ctr"/>
          <a:lstStyle/>
          <a:p>
            <a:pPr indent="0" marL="0">
              <a:buNone/>
            </a:pPr>
            <a:r>
              <a:rPr lang="en-US" sz="3000" b="1" dirty="0">
                <a:solidFill>
                  <a:srgbClr val="E9A23B"/>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417320" y="1673352"/>
            <a:ext cx="4343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loop changed the question.</a:t>
            </a:r>
            <a:endParaRPr lang="en-US" sz="1500" dirty="0"/>
          </a:p>
        </p:txBody>
      </p:sp>
      <p:sp>
        <p:nvSpPr>
          <p:cNvPr id="8" name="Text 6"/>
          <p:cNvSpPr/>
          <p:nvPr/>
        </p:nvSpPr>
        <p:spPr>
          <a:xfrm>
            <a:off x="1417320" y="2039112"/>
            <a:ext cx="4343400" cy="777240"/>
          </a:xfrm>
          <a:prstGeom prst="rect">
            <a:avLst/>
          </a:prstGeom>
          <a:noFill/>
          <a:ln/>
        </p:spPr>
        <p:txBody>
          <a:bodyPr wrap="square" lIns="0" tIns="0" rIns="0" bIns="0" rtlCol="0" anchor="t"/>
          <a:lstStyle/>
          <a:p>
            <a:pPr indent="0" marL="0">
              <a:lnSpc>
                <a:spcPct val="100000"/>
              </a:lnSpc>
              <a:buNone/>
            </a:pPr>
            <a:r>
              <a:rPr lang="en-US" sz="1250" dirty="0">
                <a:solidFill>
                  <a:srgbClr val="CADCFC"/>
                </a:solidFill>
                <a:latin typeface="Calibri" pitchFamily="34" charset="0"/>
                <a:ea typeface="Calibri" pitchFamily="34" charset="-122"/>
                <a:cs typeface="Calibri" pitchFamily="34" charset="-120"/>
              </a:rPr>
              <a:t>A Tier-1 ablation collapsed “GNNs help” into “the encoder is the lever.” Pure optimization never surfaces this.</a:t>
            </a:r>
            <a:endParaRPr lang="en-US" sz="1250" dirty="0"/>
          </a:p>
        </p:txBody>
      </p:sp>
      <p:sp>
        <p:nvSpPr>
          <p:cNvPr id="9" name="Shape 7"/>
          <p:cNvSpPr/>
          <p:nvPr/>
        </p:nvSpPr>
        <p:spPr>
          <a:xfrm>
            <a:off x="6217920" y="1508760"/>
            <a:ext cx="5440680" cy="1417320"/>
          </a:xfrm>
          <a:prstGeom prst="rect">
            <a:avLst/>
          </a:prstGeom>
          <a:solidFill>
            <a:srgbClr val="16293F"/>
          </a:solidFill>
          <a:ln/>
        </p:spPr>
      </p:sp>
      <p:sp>
        <p:nvSpPr>
          <p:cNvPr id="10" name="Shape 8"/>
          <p:cNvSpPr/>
          <p:nvPr/>
        </p:nvSpPr>
        <p:spPr>
          <a:xfrm>
            <a:off x="6217920" y="1508760"/>
            <a:ext cx="82296" cy="1417320"/>
          </a:xfrm>
          <a:prstGeom prst="rect">
            <a:avLst/>
          </a:prstGeom>
          <a:solidFill>
            <a:srgbClr val="E9A23B"/>
          </a:solidFill>
          <a:ln/>
        </p:spPr>
      </p:sp>
      <p:sp>
        <p:nvSpPr>
          <p:cNvPr id="11" name="Text 9"/>
          <p:cNvSpPr/>
          <p:nvPr/>
        </p:nvSpPr>
        <p:spPr>
          <a:xfrm>
            <a:off x="6446520" y="1673352"/>
            <a:ext cx="640080" cy="640080"/>
          </a:xfrm>
          <a:prstGeom prst="rect">
            <a:avLst/>
          </a:prstGeom>
          <a:noFill/>
          <a:ln/>
        </p:spPr>
        <p:txBody>
          <a:bodyPr wrap="square" lIns="0" tIns="0" rIns="0" bIns="0" rtlCol="0" anchor="ctr"/>
          <a:lstStyle/>
          <a:p>
            <a:pPr indent="0" marL="0">
              <a:buNone/>
            </a:pPr>
            <a:r>
              <a:rPr lang="en-US" sz="3000" b="1" dirty="0">
                <a:solidFill>
                  <a:srgbClr val="E9A23B"/>
                </a:solidFill>
                <a:latin typeface="Georgia" pitchFamily="34" charset="0"/>
                <a:ea typeface="Georgia" pitchFamily="34" charset="-122"/>
                <a:cs typeface="Georgia" pitchFamily="34" charset="-120"/>
              </a:rPr>
              <a:t>2</a:t>
            </a:r>
            <a:endParaRPr lang="en-US" sz="3000" dirty="0"/>
          </a:p>
        </p:txBody>
      </p:sp>
      <p:sp>
        <p:nvSpPr>
          <p:cNvPr id="12" name="Text 10"/>
          <p:cNvSpPr/>
          <p:nvPr/>
        </p:nvSpPr>
        <p:spPr>
          <a:xfrm>
            <a:off x="7086600" y="1673352"/>
            <a:ext cx="4343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gate is necessary, not sufficient.</a:t>
            </a:r>
            <a:endParaRPr lang="en-US" sz="1500" dirty="0"/>
          </a:p>
        </p:txBody>
      </p:sp>
      <p:sp>
        <p:nvSpPr>
          <p:cNvPr id="13" name="Text 11"/>
          <p:cNvSpPr/>
          <p:nvPr/>
        </p:nvSpPr>
        <p:spPr>
          <a:xfrm>
            <a:off x="7086600" y="2039112"/>
            <a:ext cx="4343400" cy="777240"/>
          </a:xfrm>
          <a:prstGeom prst="rect">
            <a:avLst/>
          </a:prstGeom>
          <a:noFill/>
          <a:ln/>
        </p:spPr>
        <p:txBody>
          <a:bodyPr wrap="square" lIns="0" tIns="0" rIns="0" bIns="0" rtlCol="0" anchor="t"/>
          <a:lstStyle/>
          <a:p>
            <a:pPr indent="0" marL="0">
              <a:lnSpc>
                <a:spcPct val="100000"/>
              </a:lnSpc>
              <a:buNone/>
            </a:pPr>
            <a:r>
              <a:rPr lang="en-US" sz="1250" dirty="0">
                <a:solidFill>
                  <a:srgbClr val="CADCFC"/>
                </a:solidFill>
                <a:latin typeface="Calibri" pitchFamily="34" charset="0"/>
                <a:ea typeface="Calibri" pitchFamily="34" charset="-122"/>
                <a:cs typeface="Calibri" pitchFamily="34" charset="-120"/>
              </a:rPr>
              <a:t>It catches catastrophic regressions, but selection on one seed manufactures significance. Require ≥3 seeds for ΔRMSE &lt; 0.05.</a:t>
            </a:r>
            <a:endParaRPr lang="en-US" sz="1250" dirty="0"/>
          </a:p>
        </p:txBody>
      </p:sp>
      <p:sp>
        <p:nvSpPr>
          <p:cNvPr id="14" name="Shape 12"/>
          <p:cNvSpPr/>
          <p:nvPr/>
        </p:nvSpPr>
        <p:spPr>
          <a:xfrm>
            <a:off x="548640" y="3154680"/>
            <a:ext cx="5440680" cy="1417320"/>
          </a:xfrm>
          <a:prstGeom prst="rect">
            <a:avLst/>
          </a:prstGeom>
          <a:solidFill>
            <a:srgbClr val="16293F"/>
          </a:solidFill>
          <a:ln/>
        </p:spPr>
      </p:sp>
      <p:sp>
        <p:nvSpPr>
          <p:cNvPr id="15" name="Shape 13"/>
          <p:cNvSpPr/>
          <p:nvPr/>
        </p:nvSpPr>
        <p:spPr>
          <a:xfrm>
            <a:off x="548640" y="3154680"/>
            <a:ext cx="82296" cy="1417320"/>
          </a:xfrm>
          <a:prstGeom prst="rect">
            <a:avLst/>
          </a:prstGeom>
          <a:solidFill>
            <a:srgbClr val="E9A23B"/>
          </a:solidFill>
          <a:ln/>
        </p:spPr>
      </p:sp>
      <p:sp>
        <p:nvSpPr>
          <p:cNvPr id="16" name="Text 14"/>
          <p:cNvSpPr/>
          <p:nvPr/>
        </p:nvSpPr>
        <p:spPr>
          <a:xfrm>
            <a:off x="777240" y="3319272"/>
            <a:ext cx="640080" cy="640080"/>
          </a:xfrm>
          <a:prstGeom prst="rect">
            <a:avLst/>
          </a:prstGeom>
          <a:noFill/>
          <a:ln/>
        </p:spPr>
        <p:txBody>
          <a:bodyPr wrap="square" lIns="0" tIns="0" rIns="0" bIns="0" rtlCol="0" anchor="ctr"/>
          <a:lstStyle/>
          <a:p>
            <a:pPr indent="0" marL="0">
              <a:buNone/>
            </a:pPr>
            <a:r>
              <a:rPr lang="en-US" sz="3000" b="1" dirty="0">
                <a:solidFill>
                  <a:srgbClr val="E9A23B"/>
                </a:solidFill>
                <a:latin typeface="Georgia" pitchFamily="34" charset="0"/>
                <a:ea typeface="Georgia" pitchFamily="34" charset="-122"/>
                <a:cs typeface="Georgia" pitchFamily="34" charset="-120"/>
              </a:rPr>
              <a:t>3</a:t>
            </a:r>
            <a:endParaRPr lang="en-US" sz="3000" dirty="0"/>
          </a:p>
        </p:txBody>
      </p:sp>
      <p:sp>
        <p:nvSpPr>
          <p:cNvPr id="17" name="Text 15"/>
          <p:cNvSpPr/>
          <p:nvPr/>
        </p:nvSpPr>
        <p:spPr>
          <a:xfrm>
            <a:off x="1417320" y="3319272"/>
            <a:ext cx="4343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Watch every metric.</a:t>
            </a:r>
            <a:endParaRPr lang="en-US" sz="1500" dirty="0"/>
          </a:p>
        </p:txBody>
      </p:sp>
      <p:sp>
        <p:nvSpPr>
          <p:cNvPr id="18" name="Text 16"/>
          <p:cNvSpPr/>
          <p:nvPr/>
        </p:nvSpPr>
        <p:spPr>
          <a:xfrm>
            <a:off x="1417320" y="3685032"/>
            <a:ext cx="4343400" cy="777240"/>
          </a:xfrm>
          <a:prstGeom prst="rect">
            <a:avLst/>
          </a:prstGeom>
          <a:noFill/>
          <a:ln/>
        </p:spPr>
        <p:txBody>
          <a:bodyPr wrap="square" lIns="0" tIns="0" rIns="0" bIns="0" rtlCol="0" anchor="t"/>
          <a:lstStyle/>
          <a:p>
            <a:pPr indent="0" marL="0">
              <a:lnSpc>
                <a:spcPct val="100000"/>
              </a:lnSpc>
              <a:buNone/>
            </a:pPr>
            <a:r>
              <a:rPr lang="en-US" sz="1250" dirty="0">
                <a:solidFill>
                  <a:srgbClr val="CADCFC"/>
                </a:solidFill>
                <a:latin typeface="Calibri" pitchFamily="34" charset="0"/>
                <a:ea typeface="Calibri" pitchFamily="34" charset="-122"/>
                <a:cs typeface="Calibri" pitchFamily="34" charset="-120"/>
              </a:rPr>
              <a:t>RMSE alone nearly missed Iter 5’s calibration failure. Squared error quietly accepts MAE regressions.</a:t>
            </a:r>
            <a:endParaRPr lang="en-US" sz="1250" dirty="0"/>
          </a:p>
        </p:txBody>
      </p:sp>
      <p:sp>
        <p:nvSpPr>
          <p:cNvPr id="19" name="Shape 17"/>
          <p:cNvSpPr/>
          <p:nvPr/>
        </p:nvSpPr>
        <p:spPr>
          <a:xfrm>
            <a:off x="6217920" y="3154680"/>
            <a:ext cx="5440680" cy="1417320"/>
          </a:xfrm>
          <a:prstGeom prst="rect">
            <a:avLst/>
          </a:prstGeom>
          <a:solidFill>
            <a:srgbClr val="16293F"/>
          </a:solidFill>
          <a:ln/>
        </p:spPr>
      </p:sp>
      <p:sp>
        <p:nvSpPr>
          <p:cNvPr id="20" name="Shape 18"/>
          <p:cNvSpPr/>
          <p:nvPr/>
        </p:nvSpPr>
        <p:spPr>
          <a:xfrm>
            <a:off x="6217920" y="3154680"/>
            <a:ext cx="82296" cy="1417320"/>
          </a:xfrm>
          <a:prstGeom prst="rect">
            <a:avLst/>
          </a:prstGeom>
          <a:solidFill>
            <a:srgbClr val="E9A23B"/>
          </a:solidFill>
          <a:ln/>
        </p:spPr>
      </p:sp>
      <p:sp>
        <p:nvSpPr>
          <p:cNvPr id="21" name="Text 19"/>
          <p:cNvSpPr/>
          <p:nvPr/>
        </p:nvSpPr>
        <p:spPr>
          <a:xfrm>
            <a:off x="6446520" y="3319272"/>
            <a:ext cx="640080" cy="640080"/>
          </a:xfrm>
          <a:prstGeom prst="rect">
            <a:avLst/>
          </a:prstGeom>
          <a:noFill/>
          <a:ln/>
        </p:spPr>
        <p:txBody>
          <a:bodyPr wrap="square" lIns="0" tIns="0" rIns="0" bIns="0" rtlCol="0" anchor="ctr"/>
          <a:lstStyle/>
          <a:p>
            <a:pPr indent="0" marL="0">
              <a:buNone/>
            </a:pPr>
            <a:r>
              <a:rPr lang="en-US" sz="3000" b="1" dirty="0">
                <a:solidFill>
                  <a:srgbClr val="E9A23B"/>
                </a:solidFill>
                <a:latin typeface="Georgia" pitchFamily="34" charset="0"/>
                <a:ea typeface="Georgia" pitchFamily="34" charset="-122"/>
                <a:cs typeface="Georgia" pitchFamily="34" charset="-120"/>
              </a:rPr>
              <a:t>4</a:t>
            </a:r>
            <a:endParaRPr lang="en-US" sz="3000" dirty="0"/>
          </a:p>
        </p:txBody>
      </p:sp>
      <p:sp>
        <p:nvSpPr>
          <p:cNvPr id="22" name="Text 20"/>
          <p:cNvSpPr/>
          <p:nvPr/>
        </p:nvSpPr>
        <p:spPr>
          <a:xfrm>
            <a:off x="7086600" y="3319272"/>
            <a:ext cx="4343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Compute-quality needs its own gate.</a:t>
            </a:r>
            <a:endParaRPr lang="en-US" sz="1500" dirty="0"/>
          </a:p>
        </p:txBody>
      </p:sp>
      <p:sp>
        <p:nvSpPr>
          <p:cNvPr id="23" name="Text 21"/>
          <p:cNvSpPr/>
          <p:nvPr/>
        </p:nvSpPr>
        <p:spPr>
          <a:xfrm>
            <a:off x="7086600" y="3685032"/>
            <a:ext cx="4343400" cy="777240"/>
          </a:xfrm>
          <a:prstGeom prst="rect">
            <a:avLst/>
          </a:prstGeom>
          <a:noFill/>
          <a:ln/>
        </p:spPr>
        <p:txBody>
          <a:bodyPr wrap="square" lIns="0" tIns="0" rIns="0" bIns="0" rtlCol="0" anchor="t"/>
          <a:lstStyle/>
          <a:p>
            <a:pPr indent="0" marL="0">
              <a:lnSpc>
                <a:spcPct val="100000"/>
              </a:lnSpc>
              <a:buNone/>
            </a:pPr>
            <a:r>
              <a:rPr lang="en-US" sz="1250" dirty="0">
                <a:solidFill>
                  <a:srgbClr val="CADCFC"/>
                </a:solidFill>
                <a:latin typeface="Calibri" pitchFamily="34" charset="0"/>
                <a:ea typeface="Calibri" pitchFamily="34" charset="-122"/>
                <a:cs typeface="Calibri" pitchFamily="34" charset="-120"/>
              </a:rPr>
              <a:t>Gains that pass an accuracy gate can still fail a cost-aware reading. The simplicity gate flags them.</a:t>
            </a:r>
            <a:endParaRPr lang="en-US" sz="1250" dirty="0"/>
          </a:p>
        </p:txBody>
      </p:sp>
      <p:sp>
        <p:nvSpPr>
          <p:cNvPr id="24" name="Shape 22"/>
          <p:cNvSpPr/>
          <p:nvPr/>
        </p:nvSpPr>
        <p:spPr>
          <a:xfrm>
            <a:off x="548640" y="4800600"/>
            <a:ext cx="11109960" cy="1600200"/>
          </a:xfrm>
          <a:prstGeom prst="rect">
            <a:avLst/>
          </a:prstGeom>
          <a:solidFill>
            <a:srgbClr val="0F2236"/>
          </a:solidFill>
          <a:ln/>
        </p:spPr>
      </p:sp>
      <p:sp>
        <p:nvSpPr>
          <p:cNvPr id="25" name="Shape 23"/>
          <p:cNvSpPr/>
          <p:nvPr/>
        </p:nvSpPr>
        <p:spPr>
          <a:xfrm>
            <a:off x="548640" y="4800600"/>
            <a:ext cx="91440" cy="1600200"/>
          </a:xfrm>
          <a:prstGeom prst="rect">
            <a:avLst/>
          </a:prstGeom>
          <a:solidFill>
            <a:srgbClr val="2A9D8F"/>
          </a:solidFill>
          <a:ln/>
        </p:spPr>
      </p:sp>
      <p:sp>
        <p:nvSpPr>
          <p:cNvPr id="26" name="Text 24"/>
          <p:cNvSpPr/>
          <p:nvPr/>
        </p:nvSpPr>
        <p:spPr>
          <a:xfrm>
            <a:off x="822960" y="4965192"/>
            <a:ext cx="10607040" cy="274320"/>
          </a:xfrm>
          <a:prstGeom prst="rect">
            <a:avLst/>
          </a:prstGeom>
          <a:noFill/>
          <a:ln/>
        </p:spPr>
        <p:txBody>
          <a:bodyPr wrap="square" lIns="0" tIns="0" rIns="0" bIns="0" rtlCol="0" anchor="ctr"/>
          <a:lstStyle/>
          <a:p>
            <a:pPr indent="0" marL="0">
              <a:buNone/>
            </a:pPr>
            <a:r>
              <a:rPr lang="en-US" sz="1200" b="1" spc="150" kern="0" dirty="0">
                <a:solidFill>
                  <a:srgbClr val="2A9D8F"/>
                </a:solidFill>
                <a:latin typeface="Calibri" pitchFamily="34" charset="0"/>
                <a:ea typeface="Calibri" pitchFamily="34" charset="-122"/>
                <a:cs typeface="Calibri" pitchFamily="34" charset="-120"/>
              </a:rPr>
              <a:t>THE PUNCHLINE</a:t>
            </a:r>
            <a:endParaRPr lang="en-US" sz="1200" dirty="0"/>
          </a:p>
        </p:txBody>
      </p:sp>
      <p:sp>
        <p:nvSpPr>
          <p:cNvPr id="27" name="Text 25"/>
          <p:cNvSpPr/>
          <p:nvPr/>
        </p:nvSpPr>
        <p:spPr>
          <a:xfrm>
            <a:off x="822960" y="5239512"/>
            <a:ext cx="10607040" cy="685800"/>
          </a:xfrm>
          <a:prstGeom prst="rect">
            <a:avLst/>
          </a:prstGeom>
          <a:noFill/>
          <a:ln/>
        </p:spPr>
        <p:txBody>
          <a:bodyPr wrap="square" lIns="0" tIns="0" rIns="0" bIns="0" rtlCol="0" anchor="t"/>
          <a:lstStyle/>
          <a:p>
            <a:pPr indent="0" marL="0">
              <a:lnSpc>
                <a:spcPct val="104000"/>
              </a:lnSpc>
              <a:buNone/>
            </a:pPr>
            <a:r>
              <a:rPr lang="en-US" sz="1550" i="1" dirty="0">
                <a:solidFill>
                  <a:srgbClr val="FFFFFF"/>
                </a:solidFill>
                <a:latin typeface="Georgia" pitchFamily="34" charset="0"/>
                <a:ea typeface="Georgia" pitchFamily="34" charset="-122"/>
                <a:cs typeface="Georgia" pitchFamily="34" charset="-120"/>
              </a:rPr>
              <a:t>Agents run experiments faster than humans — but the value came from wiring the loop to ask “is this real?” alongside “is this better?”. Half the budget went to putting error bars on the loop’s own claims.</a:t>
            </a:r>
            <a:endParaRPr lang="en-US" sz="1550" dirty="0"/>
          </a:p>
        </p:txBody>
      </p:sp>
      <p:sp>
        <p:nvSpPr>
          <p:cNvPr id="28" name="Text 26"/>
          <p:cNvSpPr/>
          <p:nvPr/>
        </p:nvSpPr>
        <p:spPr>
          <a:xfrm>
            <a:off x="822960" y="5971032"/>
            <a:ext cx="10607040" cy="365760"/>
          </a:xfrm>
          <a:prstGeom prst="rect">
            <a:avLst/>
          </a:prstGeom>
          <a:noFill/>
          <a:ln/>
        </p:spPr>
        <p:txBody>
          <a:bodyPr wrap="square" lIns="0" tIns="0" rIns="0" bIns="0" rtlCol="0" anchor="ctr"/>
          <a:lstStyle/>
          <a:p>
            <a:pPr indent="0" marL="0">
              <a:buNone/>
            </a:pPr>
            <a:r>
              <a:rPr lang="en-US" sz="1250" b="1" dirty="0">
                <a:solidFill>
                  <a:srgbClr val="E9A23B"/>
                </a:solidFill>
                <a:latin typeface="Calibri" pitchFamily="34" charset="0"/>
                <a:ea typeface="Calibri" pitchFamily="34" charset="-122"/>
                <a:cs typeface="Calibri" pitchFamily="34" charset="-120"/>
              </a:rPr>
              <a:t>Best defensible: </a:t>
            </a:r>
            <a:pPr indent="0" marL="0">
              <a:buNone/>
            </a:pPr>
            <a:r>
              <a:rPr lang="en-US" sz="1250" dirty="0">
                <a:solidFill>
                  <a:srgbClr val="CADCFC"/>
                </a:solidFill>
                <a:latin typeface="Calibri" pitchFamily="34" charset="0"/>
                <a:ea typeface="Calibri" pitchFamily="34" charset="-122"/>
                <a:cs typeface="Calibri" pitchFamily="34" charset="-120"/>
              </a:rPr>
              <a:t>11.92 ± 0.019 (3-seed)     </a:t>
            </a:r>
            <a:pPr indent="0" marL="0">
              <a:buNone/>
            </a:pPr>
            <a:r>
              <a:rPr lang="en-US" sz="1250" b="1" dirty="0">
                <a:solidFill>
                  <a:srgbClr val="E9A23B"/>
                </a:solidFill>
                <a:latin typeface="Calibri" pitchFamily="34" charset="0"/>
                <a:ea typeface="Calibri" pitchFamily="34" charset="-122"/>
                <a:cs typeface="Calibri" pitchFamily="34" charset="-120"/>
              </a:rPr>
              <a:t>Real effects: </a:t>
            </a:r>
            <a:pPr indent="0" marL="0">
              <a:buNone/>
            </a:pPr>
            <a:r>
              <a:rPr lang="en-US" sz="1250" dirty="0">
                <a:solidFill>
                  <a:srgbClr val="CADCFC"/>
                </a:solidFill>
                <a:latin typeface="Calibri" pitchFamily="34" charset="0"/>
                <a:ea typeface="Calibri" pitchFamily="34" charset="-122"/>
                <a:cs typeface="Calibri" pitchFamily="34" charset="-120"/>
              </a:rPr>
              <a:t>encoder −2.92  ·  graph −0.16     </a:t>
            </a:r>
            <a:pPr indent="0" marL="0">
              <a:buNone/>
            </a:pPr>
            <a:r>
              <a:rPr lang="en-US" sz="1250" b="1" dirty="0">
                <a:solidFill>
                  <a:srgbClr val="E9A23B"/>
                </a:solidFill>
                <a:latin typeface="Calibri" pitchFamily="34" charset="0"/>
                <a:ea typeface="Calibri" pitchFamily="34" charset="-122"/>
                <a:cs typeface="Calibri" pitchFamily="34" charset="-120"/>
              </a:rPr>
              <a:t>Caveat: </a:t>
            </a:r>
            <a:pPr indent="0" marL="0">
              <a:buNone/>
            </a:pPr>
            <a:r>
              <a:rPr lang="en-US" sz="1250" dirty="0">
                <a:solidFill>
                  <a:srgbClr val="CADCFC"/>
                </a:solidFill>
                <a:latin typeface="Calibri" pitchFamily="34" charset="0"/>
                <a:ea typeface="Calibri" pitchFamily="34" charset="-122"/>
                <a:cs typeface="Calibri" pitchFamily="34" charset="-120"/>
              </a:rPr>
              <a:t>Iter 15 best (11.87) still single-seed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AutoResearch on METR-LA Spatio-Temporal Forecasting</dc:title>
  <dc:subject>PptxGenJS Presentation</dc:subject>
  <dc:creator>Daigo Moriwake</dc:creator>
  <cp:lastModifiedBy>Daigo Moriwake</cp:lastModifiedBy>
  <cp:revision>1</cp:revision>
  <dcterms:created xsi:type="dcterms:W3CDTF">2026-05-28T21:38:05Z</dcterms:created>
  <dcterms:modified xsi:type="dcterms:W3CDTF">2026-05-28T21:38:05Z</dcterms:modified>
</cp:coreProperties>
</file>